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fbe47314ae4a61" /><Relationship Type="http://schemas.openxmlformats.org/officeDocument/2006/relationships/extended-properties" Target="/docProps/app.xml" Id="R612b98eff2b14b53" /><Relationship Type="http://schemas.openxmlformats.org/officeDocument/2006/relationships/officeDocument" Target="/ppt/presentation.xml" Id="R6c5e3267aa174c27" /></Relationships>
</file>

<file path=ppt/presentation.xml><?xml version="1.0" encoding="utf-8"?>
<p:presentation xmlns:p="http://schemas.openxmlformats.org/presentationml/2006/main">
  <p:sldMasterIdLst>
    <p:sldMasterId xmlns:r="http://schemas.openxmlformats.org/officeDocument/2006/relationships" id="2147483648" r:id="Rb37eb4f5973f464f"/>
  </p:sldMasterIdLst>
  <p:notesMasterIdLst>
    <p:notesMasterId xmlns:r="http://schemas.openxmlformats.org/officeDocument/2006/relationships" r:id="R42148b448cf94434"/>
  </p:notesMasterIdLst>
  <p:sldIdLst>
    <p:sldId xmlns:r="http://schemas.openxmlformats.org/officeDocument/2006/relationships" id="256" r:id="R359b4cd1c7dc47c1"/>
    <p:sldId xmlns:r="http://schemas.openxmlformats.org/officeDocument/2006/relationships" id="257" r:id="Rccce0ff1d1c34ad3"/>
    <p:sldId xmlns:r="http://schemas.openxmlformats.org/officeDocument/2006/relationships" id="258" r:id="R23952824480a4128"/>
    <p:sldId xmlns:r="http://schemas.openxmlformats.org/officeDocument/2006/relationships" id="259" r:id="R14c1fc8e40a54559"/>
    <p:sldId xmlns:r="http://schemas.openxmlformats.org/officeDocument/2006/relationships" id="260" r:id="R7f4c622673404f9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7f8c2444214b54" /><Relationship Type="http://schemas.openxmlformats.org/officeDocument/2006/relationships/slideMaster" Target="/ppt/slideMasters/slideMaster1.xml" Id="Rb37eb4f5973f464f" /><Relationship Type="http://schemas.openxmlformats.org/officeDocument/2006/relationships/notesMaster" Target="/ppt/notesMasters/notesMaster1.xml" Id="R42148b448cf94434" /><Relationship Type="http://schemas.openxmlformats.org/officeDocument/2006/relationships/presProps" Target="/ppt/presProps.xml" Id="R4847cddd40c84a17" /><Relationship Type="http://schemas.openxmlformats.org/officeDocument/2006/relationships/tableStyles" Target="/ppt/tableStyles.xml" Id="R51a2ac90a4394da3" /><Relationship Type="http://schemas.openxmlformats.org/officeDocument/2006/relationships/slide" Target="/ppt/slides/slide1.xml" Id="R359b4cd1c7dc47c1" /><Relationship Type="http://schemas.openxmlformats.org/officeDocument/2006/relationships/slide" Target="/ppt/slides/slide2.xml" Id="Rccce0ff1d1c34ad3" /><Relationship Type="http://schemas.openxmlformats.org/officeDocument/2006/relationships/slide" Target="/ppt/slides/slide3.xml" Id="R23952824480a4128" /><Relationship Type="http://schemas.openxmlformats.org/officeDocument/2006/relationships/slide" Target="/ppt/slides/slide4.xml" Id="R14c1fc8e40a54559" /><Relationship Type="http://schemas.openxmlformats.org/officeDocument/2006/relationships/slide" Target="/ppt/slides/slide5.xml" Id="R7f4c622673404f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47efc9712b40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2d342c31d946c5" /><Relationship Type="http://schemas.openxmlformats.org/officeDocument/2006/relationships/notesMaster" Target="/ppt/notesMasters/notesMaster1.xml" Id="R242115f57a9d4b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d715e8a7bf4e61" /><Relationship Type="http://schemas.openxmlformats.org/officeDocument/2006/relationships/notesMaster" Target="/ppt/notesMasters/notesMaster1.xml" Id="Ra3fcb40851db49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9a0e8fe26a4b24" /><Relationship Type="http://schemas.openxmlformats.org/officeDocument/2006/relationships/notesMaster" Target="/ppt/notesMasters/notesMaster1.xml" Id="R07b119258c5344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84862f8fd14a8d" /><Relationship Type="http://schemas.openxmlformats.org/officeDocument/2006/relationships/notesMaster" Target="/ppt/notesMasters/notesMaster1.xml" Id="R6348db7bd7a448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6ac9b4f6d04e82" /><Relationship Type="http://schemas.openxmlformats.org/officeDocument/2006/relationships/notesMaster" Target="/ppt/notesMasters/notesMaster1.xml" Id="R46cd8e9c05cd48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principal: C:/Users/Usuario/Desktop/Resumen_ejecutivo_Kaido_A013.docx.</a:t>
            </a:r>
          </a:p>
          <a:p xmlns:a="http://schemas.openxmlformats.org/drawingml/2006/main">
            <a:r>
              <a:t>Contraste: C:/kaido-motors/prevision_A013.ipynb (modelo final, celdas 57 a 77).</a:t>
            </a:r>
          </a:p>
          <a:p xmlns:a="http://schemas.openxmlformats.org/drawingml/2006/main">
            <a:r>
              <a:t/>
            </a:r>
          </a:p>
          <a:p xmlns:a="http://schemas.openxmlformats.org/drawingml/2006/main">
            <a:r>
              <a:t>Guion: El punto de partida son 23.175 matriculaciones, pero para medir la demanda de clientes quitamos las automatriculaciones. Quedan 20.706 ventas. Aunque esta cifra crece un 6 %, la comparación está afectada por el adelanto de compras al final del año. En enero a julio, el periodo que el resumen considera comparable sin adelantos ni caídas posteriores en ambos años, la demanda baja un 3,1 %. Esta comparación parcial ayuda a interpretar A012, pero no equivale por sí sola a reconstruir toda su demanda anual sin sucesos. También hay que considerar posibles restricciones de stock.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principal: C:/Users/Usuario/Desktop/Resumen_ejecutivo_Kaido_A013.docx.</a:t>
            </a:r>
          </a:p>
          <a:p xmlns:a="http://schemas.openxmlformats.org/drawingml/2006/main">
            <a:r>
              <a:t>Contraste: C:/kaido-motors/prevision_A013.ipynb (modelo final, celdas 57 a 77).</a:t>
            </a:r>
          </a:p>
          <a:p xmlns:a="http://schemas.openxmlformats.org/drawingml/2006/main">
            <a:r>
              <a:t/>
            </a:r>
          </a:p>
          <a:p xmlns:a="http://schemas.openxmlformats.org/drawingml/2006/main">
            <a:r>
              <a:t>Guion: Tras comparar el SARIMAX inicial por segmento, el modelo final separa el mercado total de la distribución entre segmentos. El total utiliza economía, calendario y sucesos. El peso del segmento recoge tendencias recientes, y la cuota convierte mercado en demanda de Kaido, quitando automatriculaciones. Los códigos nuevos reciben un aumento relativo del 10 % de cuota desde abril en el central. Es un supuesto basado en el análisis del resumen. Las validaciones del mercado total dan WAPE 6,5 %, 10,6 % y 10,5 % para A010, A011 y A012. Estos errores son del mercado total, no de la demanda de Kaido ni de cada segmento. Las salidas guardadas muestran avisos de convergencia en algunos ajustes, que deben revisarse antes de cerrar el modelo. El Word y el notebook tienen pequeñas diferencias numéricas, por lo que se mantienen las cifras del Word en toda la presentación. Los totales de demanda se obtienen antes del redondeo y pueden diferir en una unidad de la suma de segmentos. Escenarios y supuestos: config/supuestos.json. El mercado total central del resumen es 774.665 coches frente a 902.437 en A012. La demanda no equivale a las ventas que la simulación consigue atender.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principal: C:/Users/Usuario/Desktop/Resumen_ejecutivo_Kaido_A013.docx.</a:t>
            </a:r>
          </a:p>
          <a:p xmlns:a="http://schemas.openxmlformats.org/drawingml/2006/main">
            <a:r>
              <a:t>Contraste: C:/kaido-motors/prevision_A013.ipynb (modelo final, celdas 57 a 77).</a:t>
            </a:r>
          </a:p>
          <a:p xmlns:a="http://schemas.openxmlformats.org/drawingml/2006/main">
            <a:r>
              <a:t/>
            </a:r>
          </a:p>
          <a:p xmlns:a="http://schemas.openxmlformats.org/drawingml/2006/main">
            <a:r>
              <a:t>Guion: El objetivo central es atender unas 22.000 unidades de demanda con aproximadamente 20.000 llegadas y el stock inicial. No es una resta exacta entre fabricación y demanda: hay stock final, ventas perdidas y transfers. La tabla mide llegadas a la red durante A013, no la fecha de fabricación en origen. Enero y febrero ya vienen en camino. Se toma como supuesto su volumen, estimado desde el wholesale reciente. Las decisiones nuevas afectan a la llegada de dentro de tres meses. El compacto y el SUV compacto tienen cerca de cuatro meses de stock inicial, por lo que al principio se reducen las entradas. La suma de los valores redondeados del Word es 19.982 y la media agregada del escenario central es 19.988. Ambas son aproximadamente 20.000. La curva mensual también procede de cifras redondeadas.</a:t>
            </a:r>
          </a:p>
          <a:p xmlns:a="http://schemas.openxmlformats.org/drawingml/2006/main">
            <a:r>
              <a:t/>
            </a:r>
          </a:p>
          <a:p xmlns:a="http://schemas.openxmlformats.org/drawingml/2006/main">
            <a:r>
              <a:t>Detalle mensual de llegadas por segmento (enero a diciembre): MSUV 578,578,349,508,719,678,786,219,508,676,586,660; SSUV 357,357,1389,444,620,752,597,166,404,608,541,720; C 453,453,0,1,21,117,223,81,151,250,202,250; CSUV 489,489,0,0,22,97,235,87,156,275,239,236; B 122,122,1,101,108,116,96,47,54,74,69,77; MD 26,26,0,10,32,47,31,9,23,29,18,24; S 34,34,135,12,20,39,37,12,12,36,7,15. Los totales se calculan antes del redondeo.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principal: C:/Users/Usuario/Desktop/Resumen_ejecutivo_Kaido_A013.docx.</a:t>
            </a:r>
          </a:p>
          <a:p xmlns:a="http://schemas.openxmlformats.org/drawingml/2006/main">
            <a:r>
              <a:t>Contraste: C:/kaido-motors/prevision_A013.ipynb (modelo final, celdas 57 a 77).</a:t>
            </a:r>
          </a:p>
          <a:p xmlns:a="http://schemas.openxmlformats.org/drawingml/2006/main">
            <a:r>
              <a:t/>
            </a:r>
          </a:p>
          <a:p xmlns:a="http://schemas.openxmlformats.org/drawingml/2006/main">
            <a:r>
              <a:t>Guion: Se mantiene la misma política inicial basada en el central. Cada escenario cambia la demanda y permite revisiones solo sobre lo que aún se puede modificar. Por eso las llegadas finales difieren entre escenarios. Las ventas realizadas son menores que la demanda prevista, ya que la disponibilidad y las decisiones operativas limitan lo que se consigue vender. El central realiza 21.393 ventas y deja 77,1 millones de CVP antes del coste del stock. Al restar aproximadamente 2,4 millones de coste del stock, quedan unos 74,7 millones. El pesimista da pérdidas incluso antes de ese coste. Los intervalos 5 %–95 % son percentiles de las ventas simuladas bajo los supuestos del modelo, no garantías. Los cambios de producción, suministro y márgenes están sujetos a los supuestos de la simulación. La tabla del Word incluye también costes de ventas perdidas y transfers. En el central, ventas perdidas 413 coches y 0,8 millones de CVP; transfers 307 coches y 0,3 millones de coste. Pesimista: 437 ventas perdidas y 280 transfers; optimista: 804 y 602. Se mantienen las cifras del Word aunque las últimas ejecuciones del notebook difieran ligeramente.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principal: C:/Users/Usuario/Desktop/Resumen_ejecutivo_Kaido_A013.docx.</a:t>
            </a:r>
          </a:p>
          <a:p xmlns:a="http://schemas.openxmlformats.org/drawingml/2006/main">
            <a:r>
              <a:t>Contraste: C:/kaido-motors/prevision_A013.ipynb (modelo final, celdas 57 a 77).</a:t>
            </a:r>
          </a:p>
          <a:p xmlns:a="http://schemas.openxmlformats.org/drawingml/2006/main">
            <a:r>
              <a:t/>
            </a:r>
          </a:p>
          <a:p xmlns:a="http://schemas.openxmlformats.org/drawingml/2006/main">
            <a:r>
              <a:t>Guion: El SUV medio y el SUV compacto concentran aproximadamente el 68 % del margen según el resumen, aunque en CSUV primero hay que vender el stock que ya está en la red. El pequeño pierde dinero por coche incluso antes de la prima y no conviene impulsar su volumen. El compacto tiene margen reducido y necesita contener el stock. La berlina media conserva rentabilidad unitaria, pero tiene poca demanda. En el descapotable la prioridad es evitar envejecimiento. La prima de CO2 resta alrededor de 50 millones en el pesimista y lleva el CVP a unos −2,7 millones. Los valores unitarios son CVP histórico medio antes del coste de stock, con o sin la prima hipotética. El coste de perder una venta de SUV medio es 5.714 euros, frente a 60 euros por mantener un coche un mes. La comparación de unas 95 veces solo aplica a ese horizonte de un mes y excluye VM adicional, acumulación de costes y transfer. Los umbrales de revisión del 15 %, dos meses de stock y medio mes son propuestas de gestión del resumen, no leyes del modelo ni condiciones impuestas por el caso. También se vigilan la antigüedad, el paro, la confianza, la decisión de la matriz sobre CO2 y los lanzamientos.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63a086fd9945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57ef86af6845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1cf7e0e91b4e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d9f2981e7749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d9fa7319304a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a6d89ce5614f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0BCC8C-8234-4488-9EF8-23A28BDE7EDB}"/>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53CBABE-C2E1-4E3D-B6AC-10E2EF4C910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1F3C80-C265-4FFD-8D51-4CE4BD5FA96C}"/>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6B7822-314A-4B02-99BE-5F80740979A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01DA57-D5B9-4ADA-B748-2D0A7D29F25F}"/>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298C82-D502-47DC-BCA1-0781418F910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350697-B5EE-4766-9426-379F5611D80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2542D04-E164-4E1C-9543-B1306B712D2C}"/>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256DB4-81C8-4BD2-B948-6084AC5E8B5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91EE78-E67D-480F-8C8A-89ED0B6F910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a374124adc4ecc" /><Relationship Type="http://schemas.openxmlformats.org/officeDocument/2006/relationships/slideLayout" Target="/ppt/slideLayouts/slideLayout1.xml" Id="R3d95a8f99fd24f10" /><Relationship Type="http://schemas.openxmlformats.org/officeDocument/2006/relationships/slideLayout" Target="/ppt/slideLayouts/slideLayout2.xml" Id="R0189918f44d54e46" /><Relationship Type="http://schemas.openxmlformats.org/officeDocument/2006/relationships/slideLayout" Target="/ppt/slideLayouts/slideLayout3.xml" Id="R6cbfa8f2d3d943c4" /><Relationship Type="http://schemas.openxmlformats.org/officeDocument/2006/relationships/slideLayout" Target="/ppt/slideLayouts/slideLayout4.xml" Id="Rf3e004b5dae14630" /><Relationship Type="http://schemas.openxmlformats.org/officeDocument/2006/relationships/slideLayout" Target="/ppt/slideLayouts/slideLayout5.xml" Id="R252ea3b07d464777" /><Relationship Type="http://schemas.openxmlformats.org/officeDocument/2006/relationships/slideLayout" Target="/ppt/slideLayouts/slideLayout6.xml" Id="R3c74ffc8455146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95a8f99fd24f10"/>
    <p:sldLayoutId xmlns:r="http://schemas.openxmlformats.org/officeDocument/2006/relationships" id="2147483650" r:id="R0189918f44d54e46"/>
    <p:sldLayoutId xmlns:r="http://schemas.openxmlformats.org/officeDocument/2006/relationships" id="2147483651" r:id="R6cbfa8f2d3d943c4"/>
    <p:sldLayoutId xmlns:r="http://schemas.openxmlformats.org/officeDocument/2006/relationships" id="2147483652" r:id="Rf3e004b5dae14630"/>
    <p:sldLayoutId xmlns:r="http://schemas.openxmlformats.org/officeDocument/2006/relationships" id="2147483653" r:id="R252ea3b07d464777"/>
    <p:sldLayoutId xmlns:r="http://schemas.openxmlformats.org/officeDocument/2006/relationships" id="2147483654" r:id="R3c74ffc8455146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66d6ff2b2844d8" /><Relationship Type="http://schemas.openxmlformats.org/officeDocument/2006/relationships/notesSlide" Target="/ppt/notesSlides/notesSlide1.xml" Id="Reb463f1a041749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e388efd02054e40" /><Relationship Type="http://schemas.openxmlformats.org/officeDocument/2006/relationships/chart" Target="/ppt/slides/charts/chart1.xml" Id="Rea9b294bf0bd4380" /><Relationship Type="http://schemas.openxmlformats.org/officeDocument/2006/relationships/notesSlide" Target="/ppt/notesSlides/notesSlide2.xml" Id="R69c8bd07892e49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d68a45a53b74ccf" /><Relationship Type="http://schemas.openxmlformats.org/officeDocument/2006/relationships/chart" Target="/ppt/slides/charts/chart2.xml" Id="R30b5306c893c4c5b" /><Relationship Type="http://schemas.openxmlformats.org/officeDocument/2006/relationships/notesSlide" Target="/ppt/notesSlides/notesSlide3.xml" Id="Rf216718c648b4e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52b59fba62400a" /><Relationship Type="http://schemas.openxmlformats.org/officeDocument/2006/relationships/notesSlide" Target="/ppt/notesSlides/notesSlide4.xml" Id="Rc993e0aaae8c4d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98eba935604df1" /><Relationship Type="http://schemas.openxmlformats.org/officeDocument/2006/relationships/notesSlide" Target="/ppt/notesSlides/notesSlide5.xml" Id="R0d77d33151834964" /></Relationships>
</file>

<file path=ppt/slides/charts/chart1.xml><?xml version="1.0" encoding="utf-8"?>
<c:chartSpace xmlns:c="http://schemas.openxmlformats.org/drawingml/2006/chart">
  <c:lang val="en-US"/>
  <c:chart>
    <c:plotArea>
      <c:barChart>
        <c:barDir val="col"/>
        <c:grouping val="clustered"/>
        <c:varyColors val="1"/>
        <c:ser>
          <c:idx val="0"/>
          <c:order val="0"/>
          <c:tx>
            <c:v>Demanda de Kaido</c:v>
          </c:tx>
          <c:invertIfNegative val="0"/>
          <c:dPt>
            <c:idx val="0"/>
            <c:invertIfNegative val="0"/>
            <c:spPr>
              <a:solidFill xmlns:a="http://schemas.openxmlformats.org/drawingml/2006/main">
                <a:srgbClr val="D87836"/>
              </a:solidFill>
            </c:spPr>
          </c:dPt>
          <c:dPt>
            <c:idx val="1"/>
            <c:invertIfNegative val="0"/>
            <c:spPr>
              <a:solidFill xmlns:a="http://schemas.openxmlformats.org/drawingml/2006/main">
                <a:srgbClr val="176CA4"/>
              </a:solidFill>
            </c:spPr>
          </c:dPt>
          <c:dPt>
            <c:idx val="2"/>
            <c:invertIfNegative val="0"/>
            <c:spPr>
              <a:solidFill xmlns:a="http://schemas.openxmlformats.org/drawingml/2006/main">
                <a:srgbClr val="087F7B"/>
              </a:solidFill>
            </c:spPr>
          </c:dPt>
          <c:cat>
            <c:strLit>
              <c:ptCount val="3"/>
              <c:pt idx="0">
                <c:v>Pesimista</c:v>
              </c:pt>
              <c:pt idx="1">
                <c:v>Central</c:v>
              </c:pt>
              <c:pt idx="2">
                <c:v>Optimista</c:v>
              </c:pt>
            </c:strLit>
          </c:cat>
          <c:val>
            <c:numLit>
              <c:formatCode>#,##0</c:formatCode>
              <c:ptCount val="3"/>
              <c:pt idx="0">
                <c:v>17407</c:v>
              </c:pt>
              <c:pt idx="1">
                <c:v>21953</c:v>
              </c:pt>
              <c:pt idx="2">
                <c:v>28051</c:v>
              </c:pt>
            </c:numLit>
          </c:val>
        </c:ser>
        <c:dLbls>
          <c:numFmt formatCode="#,##0" sourceLinked="0"/>
          <c:txPr>
            <a:bodyPr xmlns:a="http://schemas.openxmlformats.org/drawingml/2006/main" anchorCtr="1"/>
            <a:lstStyle xmlns:a="http://schemas.openxmlformats.org/drawingml/2006/main"/>
            <a:p xmlns:a="http://schemas.openxmlformats.org/drawingml/2006/main">
              <a:pPr>
                <a:defRPr sz="2025" b="1">
                  <a:solidFill>
                    <a:srgbClr val="142B4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0E4"/>
            </a:solidFill>
          </a:ln>
        </c:spPr>
        <c:txPr>
          <a:bodyPr xmlns:a="http://schemas.openxmlformats.org/drawingml/2006/main" anchorCtr="1"/>
          <a:lstStyle xmlns:a="http://schemas.openxmlformats.org/drawingml/2006/main"/>
          <a:p xmlns:a="http://schemas.openxmlformats.org/drawingml/2006/main">
            <a:pPr>
              <a:defRPr sz="1800">
                <a:solidFill>
                  <a:srgbClr val="566775"/>
                </a:solidFill>
                <a:latin typeface="Arial"/>
                <a:ea typeface="Arial"/>
                <a:cs typeface="Arial"/>
              </a:defRPr>
            </a:pPr>
          </a:p>
        </c:txPr>
        <c:crossAx val="48672768"/>
      </c:catAx>
      <c:valAx>
        <c:axId val="48672768"/>
        <c:scaling>
          <c:orientation val="minMax"/>
          <c:max val="32000"/>
          <c:min val="0"/>
        </c:scaling>
        <c:delete val="0"/>
        <c:axPos val="l"/>
        <c:majorGridlines>
          <c:spPr>
            <a:ln xmlns:a="http://schemas.openxmlformats.org/drawingml/2006/main" w="9525">
              <a:solidFill>
                <a:srgbClr val="D7E0E4"/>
              </a:solidFill>
            </a:ln>
          </c:spPr>
        </c:majorGridlines>
        <c:numFmt formatCode="#,##0"/>
        <c:majorTickMark val="none"/>
        <c:minorTickMark val="none"/>
        <c:spPr>
          <a:ln xmlns:a="http://schemas.openxmlformats.org/drawingml/2006/main" w="9525">
            <a:solidFill>
              <a:srgbClr val="D7E0E4"/>
            </a:solidFill>
          </a:ln>
        </c:spPr>
        <c:txPr>
          <a:bodyPr xmlns:a="http://schemas.openxmlformats.org/drawingml/2006/main" anchorCtr="1"/>
          <a:lstStyle xmlns:a="http://schemas.openxmlformats.org/drawingml/2006/main"/>
          <a:p xmlns:a="http://schemas.openxmlformats.org/drawingml/2006/main">
            <a:pPr>
              <a:defRPr sz="1800">
                <a:solidFill>
                  <a:srgbClr val="566775"/>
                </a:solidFill>
                <a:latin typeface="Arial"/>
                <a:ea typeface="Arial"/>
                <a:cs typeface="Arial"/>
              </a:defRPr>
            </a:pPr>
          </a:p>
        </c:txPr>
        <c:crossAx val="48650112"/>
        <c:crossBetween val="between"/>
        <c:majorUnit val="1000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lineChart>
        <c:grouping val="standard"/>
        <c:varyColors val="0"/>
        <c:ser>
          <c:idx val="0"/>
          <c:order val="0"/>
          <c:tx>
            <c:v>Llegadas mensuales</c:v>
          </c:tx>
          <c:spPr>
            <a:ln xmlns:a="http://schemas.openxmlformats.org/drawingml/2006/main" w="38100">
              <a:solidFill>
                <a:srgbClr val="176CA4"/>
              </a:solidFill>
            </a:ln>
          </c:spPr>
          <c:marker>
            <c:symbol val="circle"/>
            <c:size val="7"/>
            <c:spPr>
              <a:solidFill xmlns:a="http://schemas.openxmlformats.org/drawingml/2006/main">
                <a:srgbClr val="176CA4"/>
              </a:solidFill>
            </c:spPr>
          </c:marker>
          <c:cat>
            <c:strLit>
              <c:ptCount val="12"/>
              <c:pt idx="0">
                <c:v>Ene</c:v>
              </c:pt>
              <c:pt idx="1">
                <c:v>Feb</c:v>
              </c:pt>
              <c:pt idx="2">
                <c:v>Mar</c:v>
              </c:pt>
              <c:pt idx="3">
                <c:v>Abr</c:v>
              </c:pt>
              <c:pt idx="4">
                <c:v>May</c:v>
              </c:pt>
              <c:pt idx="5">
                <c:v>Jun</c:v>
              </c:pt>
              <c:pt idx="6">
                <c:v>Jul</c:v>
              </c:pt>
              <c:pt idx="7">
                <c:v>Ago</c:v>
              </c:pt>
              <c:pt idx="8">
                <c:v>Sep</c:v>
              </c:pt>
              <c:pt idx="9">
                <c:v>Oct</c:v>
              </c:pt>
              <c:pt idx="10">
                <c:v>Nov</c:v>
              </c:pt>
              <c:pt idx="11">
                <c:v>Dic</c:v>
              </c:pt>
            </c:strLit>
          </c:cat>
          <c:val>
            <c:numLit>
              <c:formatCode>#,##0</c:formatCode>
              <c:ptCount val="12"/>
              <c:pt idx="0">
                <c:v>2059</c:v>
              </c:pt>
              <c:pt idx="1">
                <c:v>2059</c:v>
              </c:pt>
              <c:pt idx="2">
                <c:v>1874</c:v>
              </c:pt>
              <c:pt idx="3">
                <c:v>1076</c:v>
              </c:pt>
              <c:pt idx="4">
                <c:v>1542</c:v>
              </c:pt>
              <c:pt idx="5">
                <c:v>1846</c:v>
              </c:pt>
              <c:pt idx="6">
                <c:v>2005</c:v>
              </c:pt>
              <c:pt idx="7">
                <c:v>621</c:v>
              </c:pt>
              <c:pt idx="8">
                <c:v>1308</c:v>
              </c:pt>
              <c:pt idx="9">
                <c:v>1948</c:v>
              </c:pt>
              <c:pt idx="10">
                <c:v>1662</c:v>
              </c:pt>
              <c:pt idx="11">
                <c:v>1982</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E0E4"/>
            </a:solidFill>
          </a:ln>
        </c:spPr>
        <c:txPr>
          <a:bodyPr xmlns:a="http://schemas.openxmlformats.org/drawingml/2006/main" anchorCtr="1"/>
          <a:lstStyle xmlns:a="http://schemas.openxmlformats.org/drawingml/2006/main"/>
          <a:p xmlns:a="http://schemas.openxmlformats.org/drawingml/2006/main">
            <a:pPr>
              <a:defRPr sz="1575">
                <a:solidFill>
                  <a:srgbClr val="566775"/>
                </a:solidFill>
                <a:latin typeface="Arial"/>
                <a:ea typeface="Arial"/>
                <a:cs typeface="Arial"/>
              </a:defRPr>
            </a:pPr>
          </a:p>
        </c:txPr>
        <c:crossAx val="48672768"/>
      </c:catAx>
      <c:valAx>
        <c:axId val="48672768"/>
        <c:scaling>
          <c:orientation val="minMax"/>
          <c:max val="2500"/>
          <c:min val="0"/>
        </c:scaling>
        <c:delete val="0"/>
        <c:axPos val="l"/>
        <c:majorGridlines>
          <c:spPr>
            <a:ln xmlns:a="http://schemas.openxmlformats.org/drawingml/2006/main" w="9525">
              <a:solidFill>
                <a:srgbClr val="D7E0E4"/>
              </a:solidFill>
            </a:ln>
          </c:spPr>
        </c:majorGridlines>
        <c:numFmt formatCode="#,##0"/>
        <c:majorTickMark val="none"/>
        <c:minorTickMark val="none"/>
        <c:spPr>
          <a:ln xmlns:a="http://schemas.openxmlformats.org/drawingml/2006/main" w="9525">
            <a:solidFill>
              <a:srgbClr val="D7E0E4"/>
            </a:solidFill>
          </a:ln>
        </c:spPr>
        <c:txPr>
          <a:bodyPr xmlns:a="http://schemas.openxmlformats.org/drawingml/2006/main" anchorCtr="1"/>
          <a:lstStyle xmlns:a="http://schemas.openxmlformats.org/drawingml/2006/main"/>
          <a:p xmlns:a="http://schemas.openxmlformats.org/drawingml/2006/main">
            <a:pPr>
              <a:defRPr sz="1800">
                <a:solidFill>
                  <a:srgbClr val="566775"/>
                </a:solidFill>
                <a:latin typeface="Arial"/>
                <a:ea typeface="Arial"/>
                <a:cs typeface="Arial"/>
              </a:defRPr>
            </a:pPr>
          </a:p>
        </c:txPr>
        <c:crossAx val="48650112"/>
        <c:crossBetween val="between"/>
        <c:majorUnit val="50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a demanda real de Kaido en A012">
            <a:extLst xmlns:a="http://schemas.openxmlformats.org/drawingml/2006/main">
              <a:ext uri="{FF2B5EF4-FFF2-40B4-BE49-F238E27FC236}">
                <a16:creationId xmlns:a16="http://schemas.microsoft.com/office/drawing/2014/main" id="{16ECDA8E-A898-43D7-A1FB-94A0C11D7838}"/>
              </a:ext>
            </a:extLst>
          </p:cNvPr>
          <p:cNvSpPr>
            <a:spLocks xmlns:a="http://schemas.openxmlformats.org/drawingml/2006/main" noGrp="1"/>
          </p:cNvSpPr>
          <p:nvPr/>
        </p:nvSpPr>
        <p:spPr>
          <a:xfrm xmlns:a="http://schemas.openxmlformats.org/drawingml/2006/main">
            <a:off x="762000" y="552450"/>
            <a:ext cx="1371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142B40"/>
                </a:solidFill>
                <a:latin typeface="Arial"/>
                <a:ea typeface="Arial"/>
                <a:cs typeface="Arial"/>
              </a:defRPr>
            </a:defPPr>
          </a:lstStyle>
          <a:p xmlns:a="http://schemas.openxmlformats.org/drawingml/2006/main">
            <a:pPr algn="l">
              <a:defRPr sz="4200" b="1">
                <a:solidFill>
                  <a:srgbClr val="142B40"/>
                </a:solidFill>
                <a:latin typeface="Arial"/>
                <a:ea typeface="Arial"/>
                <a:cs typeface="Arial"/>
              </a:defRPr>
            </a:pPr>
            <a:r>
              <a:rPr sz="4200" b="1">
                <a:solidFill>
                  <a:srgbClr val="142B40"/>
                </a:solidFill>
                <a:latin typeface="Arial"/>
                <a:ea typeface="Arial"/>
                <a:cs typeface="Arial"/>
              </a:rPr>
              <a:t>La demanda real de Kaido en A012</a:t>
            </a:r>
          </a:p>
        </p:txBody>
      </p:sp>
      <p:sp>
        <p:nvSpPr>
          <p:cNvPr id="2" name="Kaido Motors España. Plan de demanda y producción de A0">
            <a:extLst xmlns:a="http://schemas.openxmlformats.org/drawingml/2006/main">
              <a:ext uri="{FF2B5EF4-FFF2-40B4-BE49-F238E27FC236}">
                <a16:creationId xmlns:a16="http://schemas.microsoft.com/office/drawing/2014/main" id="{6CBB600F-2E65-46B4-9BBB-6F98B835A33C}"/>
              </a:ext>
            </a:extLst>
          </p:cNvPr>
          <p:cNvSpPr>
            <a:spLocks xmlns:a="http://schemas.openxmlformats.org/drawingml/2006/main" noGrp="1"/>
          </p:cNvSpPr>
          <p:nvPr/>
        </p:nvSpPr>
        <p:spPr>
          <a:xfrm xmlns:a="http://schemas.openxmlformats.org/drawingml/2006/main">
            <a:off x="762000" y="1438275"/>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66775"/>
                </a:solidFill>
                <a:latin typeface="Arial"/>
                <a:ea typeface="Arial"/>
                <a:cs typeface="Arial"/>
              </a:defRPr>
            </a:defPPr>
          </a:lstStyle>
          <a:p xmlns:a="http://schemas.openxmlformats.org/drawingml/2006/main">
            <a:pPr algn="l">
              <a:defRPr sz="2100" b="0">
                <a:solidFill>
                  <a:srgbClr val="566775"/>
                </a:solidFill>
                <a:latin typeface="Arial"/>
                <a:ea typeface="Arial"/>
                <a:cs typeface="Arial"/>
              </a:defRPr>
            </a:pPr>
            <a:r>
              <a:rPr sz="2100" b="0">
                <a:solidFill>
                  <a:srgbClr val="566775"/>
                </a:solidFill>
                <a:latin typeface="Arial"/>
                <a:ea typeface="Arial"/>
                <a:cs typeface="Arial"/>
              </a:rPr>
              <a:t>Kaido Motors España. Plan de demanda y producción de A013</a:t>
            </a:r>
          </a:p>
        </p:txBody>
      </p:sp>
      <p:sp>
        <p:nvSpPr>
          <p:cNvPr id="3" name="1 / 5">
            <a:extLst xmlns:a="http://schemas.openxmlformats.org/drawingml/2006/main">
              <a:ext uri="{FF2B5EF4-FFF2-40B4-BE49-F238E27FC236}">
                <a16:creationId xmlns:a16="http://schemas.microsoft.com/office/drawing/2014/main" id="{9A3F1D00-537E-4E49-854D-0333F1CCF4D2}"/>
              </a:ext>
            </a:extLst>
          </p:cNvPr>
          <p:cNvSpPr>
            <a:spLocks xmlns:a="http://schemas.openxmlformats.org/drawingml/2006/main" noGrp="1"/>
          </p:cNvSpPr>
          <p:nvPr/>
        </p:nvSpPr>
        <p:spPr>
          <a:xfrm xmlns:a="http://schemas.openxmlformats.org/drawingml/2006/main">
            <a:off x="13763625" y="806767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500" b="0">
                <a:solidFill>
                  <a:srgbClr val="566775"/>
                </a:solidFill>
                <a:latin typeface="Arial"/>
                <a:ea typeface="Arial"/>
                <a:cs typeface="Arial"/>
              </a:defRPr>
            </a:defPPr>
          </a:lstStyle>
          <a:p xmlns:a="http://schemas.openxmlformats.org/drawingml/2006/main">
            <a:pPr algn="r">
              <a:defRPr sz="1500" b="0">
                <a:solidFill>
                  <a:srgbClr val="566775"/>
                </a:solidFill>
                <a:latin typeface="Arial"/>
                <a:ea typeface="Arial"/>
                <a:cs typeface="Arial"/>
              </a:defRPr>
            </a:pPr>
            <a:r>
              <a:rPr sz="1500" b="0">
                <a:solidFill>
                  <a:srgbClr val="566775"/>
                </a:solidFill>
                <a:latin typeface="Arial"/>
                <a:ea typeface="Arial"/>
                <a:cs typeface="Arial"/>
              </a:rPr>
              <a:t>1 / 5</a:t>
            </a:r>
          </a:p>
        </p:txBody>
      </p:sp>
      <p:sp>
        <p:nvSpPr>
          <p:cNvPr id="4" name="23.175">
            <a:extLst xmlns:a="http://schemas.openxmlformats.org/drawingml/2006/main">
              <a:ext uri="{FF2B5EF4-FFF2-40B4-BE49-F238E27FC236}">
                <a16:creationId xmlns:a16="http://schemas.microsoft.com/office/drawing/2014/main" id="{BC011B16-90FA-4E7A-AC38-8BE4E2857B3C}"/>
              </a:ext>
            </a:extLst>
          </p:cNvPr>
          <p:cNvSpPr>
            <a:spLocks xmlns:a="http://schemas.openxmlformats.org/drawingml/2006/main" noGrp="1"/>
          </p:cNvSpPr>
          <p:nvPr/>
        </p:nvSpPr>
        <p:spPr>
          <a:xfrm xmlns:a="http://schemas.openxmlformats.org/drawingml/2006/main">
            <a:off x="762000" y="2486025"/>
            <a:ext cx="4095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350" b="1">
                <a:solidFill>
                  <a:srgbClr val="142B40"/>
                </a:solidFill>
                <a:latin typeface="Arial"/>
                <a:ea typeface="Arial"/>
                <a:cs typeface="Arial"/>
              </a:defRPr>
            </a:defPPr>
          </a:lstStyle>
          <a:p xmlns:a="http://schemas.openxmlformats.org/drawingml/2006/main">
            <a:pPr algn="l">
              <a:defRPr sz="7350" b="1">
                <a:solidFill>
                  <a:srgbClr val="142B40"/>
                </a:solidFill>
                <a:latin typeface="Arial"/>
                <a:ea typeface="Arial"/>
                <a:cs typeface="Arial"/>
              </a:defRPr>
            </a:pPr>
            <a:r>
              <a:rPr sz="7350" b="1">
                <a:solidFill>
                  <a:srgbClr val="142B40"/>
                </a:solidFill>
                <a:latin typeface="Arial"/>
                <a:ea typeface="Arial"/>
                <a:cs typeface="Arial"/>
              </a:rPr>
              <a:t>23.175</a:t>
            </a:r>
          </a:p>
        </p:txBody>
      </p:sp>
      <p:sp>
        <p:nvSpPr>
          <p:cNvPr id="5" name="matriculaciones en A012">
            <a:extLst xmlns:a="http://schemas.openxmlformats.org/drawingml/2006/main">
              <a:ext uri="{FF2B5EF4-FFF2-40B4-BE49-F238E27FC236}">
                <a16:creationId xmlns:a16="http://schemas.microsoft.com/office/drawing/2014/main" id="{ECC54DF9-462F-461E-8711-4D1C7D86B853}"/>
              </a:ext>
            </a:extLst>
          </p:cNvPr>
          <p:cNvSpPr>
            <a:spLocks xmlns:a="http://schemas.openxmlformats.org/drawingml/2006/main" noGrp="1"/>
          </p:cNvSpPr>
          <p:nvPr/>
        </p:nvSpPr>
        <p:spPr>
          <a:xfrm xmlns:a="http://schemas.openxmlformats.org/drawingml/2006/main">
            <a:off x="762000" y="363855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566775"/>
                </a:solidFill>
                <a:latin typeface="Arial"/>
                <a:ea typeface="Arial"/>
                <a:cs typeface="Arial"/>
              </a:defRPr>
            </a:defPPr>
          </a:lstStyle>
          <a:p xmlns:a="http://schemas.openxmlformats.org/drawingml/2006/main">
            <a:pPr algn="l">
              <a:defRPr sz="2250" b="0">
                <a:solidFill>
                  <a:srgbClr val="566775"/>
                </a:solidFill>
                <a:latin typeface="Arial"/>
                <a:ea typeface="Arial"/>
                <a:cs typeface="Arial"/>
              </a:defRPr>
            </a:pPr>
            <a:r>
              <a:rPr sz="2250" b="0">
                <a:solidFill>
                  <a:srgbClr val="566775"/>
                </a:solidFill>
                <a:latin typeface="Arial"/>
                <a:ea typeface="Arial"/>
                <a:cs typeface="Arial"/>
              </a:rPr>
              <a:t>matriculaciones en A012</a:t>
            </a:r>
          </a:p>
        </p:txBody>
      </p:sp>
      <p:sp>
        <p:nvSpPr>
          <p:cNvPr id="6" name="+8,5 % frente a A011">
            <a:extLst xmlns:a="http://schemas.openxmlformats.org/drawingml/2006/main">
              <a:ext uri="{FF2B5EF4-FFF2-40B4-BE49-F238E27FC236}">
                <a16:creationId xmlns:a16="http://schemas.microsoft.com/office/drawing/2014/main" id="{9266E389-7519-4A8C-943D-9F1AB39CF352}"/>
              </a:ext>
            </a:extLst>
          </p:cNvPr>
          <p:cNvSpPr>
            <a:spLocks xmlns:a="http://schemas.openxmlformats.org/drawingml/2006/main" noGrp="1"/>
          </p:cNvSpPr>
          <p:nvPr/>
        </p:nvSpPr>
        <p:spPr>
          <a:xfrm xmlns:a="http://schemas.openxmlformats.org/drawingml/2006/main">
            <a:off x="762000" y="417195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76CA4"/>
                </a:solidFill>
                <a:latin typeface="Arial"/>
                <a:ea typeface="Arial"/>
                <a:cs typeface="Arial"/>
              </a:defRPr>
            </a:defPPr>
          </a:lstStyle>
          <a:p xmlns:a="http://schemas.openxmlformats.org/drawingml/2006/main">
            <a:pPr algn="l">
              <a:defRPr sz="2250" b="1">
                <a:solidFill>
                  <a:srgbClr val="176CA4"/>
                </a:solidFill>
                <a:latin typeface="Arial"/>
                <a:ea typeface="Arial"/>
                <a:cs typeface="Arial"/>
              </a:defRPr>
            </a:pPr>
            <a:r>
              <a:rPr sz="2250" b="1">
                <a:solidFill>
                  <a:srgbClr val="176CA4"/>
                </a:solidFill>
                <a:latin typeface="Arial"/>
                <a:ea typeface="Arial"/>
                <a:cs typeface="Arial"/>
              </a:rPr>
              <a:t>+8,5 % frente a A011</a:t>
            </a:r>
          </a:p>
        </p:txBody>
      </p:sp>
      <p:sp>
        <p:nvSpPr>
          <p:cNvPr id="7" name="20.706">
            <a:extLst xmlns:a="http://schemas.openxmlformats.org/drawingml/2006/main">
              <a:ext uri="{FF2B5EF4-FFF2-40B4-BE49-F238E27FC236}">
                <a16:creationId xmlns:a16="http://schemas.microsoft.com/office/drawing/2014/main" id="{DD4B8686-9C2A-4574-BC97-873200EF4EB1}"/>
              </a:ext>
            </a:extLst>
          </p:cNvPr>
          <p:cNvSpPr>
            <a:spLocks xmlns:a="http://schemas.openxmlformats.org/drawingml/2006/main" noGrp="1"/>
          </p:cNvSpPr>
          <p:nvPr/>
        </p:nvSpPr>
        <p:spPr>
          <a:xfrm xmlns:a="http://schemas.openxmlformats.org/drawingml/2006/main">
            <a:off x="5619750" y="2486025"/>
            <a:ext cx="4191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350" b="1">
                <a:solidFill>
                  <a:srgbClr val="087F7B"/>
                </a:solidFill>
                <a:latin typeface="Arial"/>
                <a:ea typeface="Arial"/>
                <a:cs typeface="Arial"/>
              </a:defRPr>
            </a:defPPr>
          </a:lstStyle>
          <a:p xmlns:a="http://schemas.openxmlformats.org/drawingml/2006/main">
            <a:pPr algn="l">
              <a:defRPr sz="7350" b="1">
                <a:solidFill>
                  <a:srgbClr val="087F7B"/>
                </a:solidFill>
                <a:latin typeface="Arial"/>
                <a:ea typeface="Arial"/>
                <a:cs typeface="Arial"/>
              </a:defRPr>
            </a:pPr>
            <a:r>
              <a:rPr sz="7350" b="1">
                <a:solidFill>
                  <a:srgbClr val="087F7B"/>
                </a:solidFill>
                <a:latin typeface="Arial"/>
                <a:ea typeface="Arial"/>
                <a:cs typeface="Arial"/>
              </a:rPr>
              <a:t>20.706</a:t>
            </a:r>
          </a:p>
        </p:txBody>
      </p:sp>
      <p:sp>
        <p:nvSpPr>
          <p:cNvPr id="8" name="ventas sin automatriculaciones">
            <a:extLst xmlns:a="http://schemas.openxmlformats.org/drawingml/2006/main">
              <a:ext uri="{FF2B5EF4-FFF2-40B4-BE49-F238E27FC236}">
                <a16:creationId xmlns:a16="http://schemas.microsoft.com/office/drawing/2014/main" id="{E9A2214D-48DF-4B06-AC3E-EADA0961260B}"/>
              </a:ext>
            </a:extLst>
          </p:cNvPr>
          <p:cNvSpPr>
            <a:spLocks xmlns:a="http://schemas.openxmlformats.org/drawingml/2006/main" noGrp="1"/>
          </p:cNvSpPr>
          <p:nvPr/>
        </p:nvSpPr>
        <p:spPr>
          <a:xfrm xmlns:a="http://schemas.openxmlformats.org/drawingml/2006/main">
            <a:off x="5619750" y="3638550"/>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566775"/>
                </a:solidFill>
                <a:latin typeface="Arial"/>
                <a:ea typeface="Arial"/>
                <a:cs typeface="Arial"/>
              </a:defRPr>
            </a:defPPr>
          </a:lstStyle>
          <a:p xmlns:a="http://schemas.openxmlformats.org/drawingml/2006/main">
            <a:pPr algn="l">
              <a:defRPr sz="2250" b="0">
                <a:solidFill>
                  <a:srgbClr val="566775"/>
                </a:solidFill>
                <a:latin typeface="Arial"/>
                <a:ea typeface="Arial"/>
                <a:cs typeface="Arial"/>
              </a:defRPr>
            </a:pPr>
            <a:r>
              <a:rPr sz="2250" b="0">
                <a:solidFill>
                  <a:srgbClr val="566775"/>
                </a:solidFill>
                <a:latin typeface="Arial"/>
                <a:ea typeface="Arial"/>
                <a:cs typeface="Arial"/>
              </a:rPr>
              <a:t>ventas sin automatriculaciones</a:t>
            </a:r>
          </a:p>
        </p:txBody>
      </p:sp>
      <p:sp>
        <p:nvSpPr>
          <p:cNvPr id="9" name="+6,0 % frente a A011">
            <a:extLst xmlns:a="http://schemas.openxmlformats.org/drawingml/2006/main">
              <a:ext uri="{FF2B5EF4-FFF2-40B4-BE49-F238E27FC236}">
                <a16:creationId xmlns:a16="http://schemas.microsoft.com/office/drawing/2014/main" id="{8B9A0D49-ED74-4613-9F21-D90F026ED53F}"/>
              </a:ext>
            </a:extLst>
          </p:cNvPr>
          <p:cNvSpPr>
            <a:spLocks xmlns:a="http://schemas.openxmlformats.org/drawingml/2006/main" noGrp="1"/>
          </p:cNvSpPr>
          <p:nvPr/>
        </p:nvSpPr>
        <p:spPr>
          <a:xfrm xmlns:a="http://schemas.openxmlformats.org/drawingml/2006/main">
            <a:off x="5619750" y="45243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87F7B"/>
                </a:solidFill>
                <a:latin typeface="Arial"/>
                <a:ea typeface="Arial"/>
                <a:cs typeface="Arial"/>
              </a:defRPr>
            </a:defPPr>
          </a:lstStyle>
          <a:p xmlns:a="http://schemas.openxmlformats.org/drawingml/2006/main">
            <a:pPr algn="l">
              <a:defRPr sz="2250" b="1">
                <a:solidFill>
                  <a:srgbClr val="087F7B"/>
                </a:solidFill>
                <a:latin typeface="Arial"/>
                <a:ea typeface="Arial"/>
                <a:cs typeface="Arial"/>
              </a:defRPr>
            </a:pPr>
            <a:r>
              <a:rPr sz="2250" b="1">
                <a:solidFill>
                  <a:srgbClr val="087F7B"/>
                </a:solidFill>
                <a:latin typeface="Arial"/>
                <a:ea typeface="Arial"/>
                <a:cs typeface="Arial"/>
              </a:rPr>
              <a:t>+6,0 % frente a A011</a:t>
            </a:r>
          </a:p>
        </p:txBody>
      </p:sp>
      <p:sp>
        <p:nvSpPr>
          <p:cNvPr id="10" name="−3,1 %">
            <a:extLst xmlns:a="http://schemas.openxmlformats.org/drawingml/2006/main">
              <a:ext uri="{FF2B5EF4-FFF2-40B4-BE49-F238E27FC236}">
                <a16:creationId xmlns:a16="http://schemas.microsoft.com/office/drawing/2014/main" id="{53FADD99-8B26-4513-A2FC-0214B29B407F}"/>
              </a:ext>
            </a:extLst>
          </p:cNvPr>
          <p:cNvSpPr>
            <a:spLocks xmlns:a="http://schemas.openxmlformats.org/drawingml/2006/main" noGrp="1"/>
          </p:cNvSpPr>
          <p:nvPr/>
        </p:nvSpPr>
        <p:spPr>
          <a:xfrm xmlns:a="http://schemas.openxmlformats.org/drawingml/2006/main">
            <a:off x="10668000" y="2486025"/>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350" b="1">
                <a:solidFill>
                  <a:srgbClr val="D87836"/>
                </a:solidFill>
                <a:latin typeface="Arial"/>
                <a:ea typeface="Arial"/>
                <a:cs typeface="Arial"/>
              </a:defRPr>
            </a:defPPr>
          </a:lstStyle>
          <a:p xmlns:a="http://schemas.openxmlformats.org/drawingml/2006/main">
            <a:pPr algn="l">
              <a:defRPr sz="7350" b="1">
                <a:solidFill>
                  <a:srgbClr val="D87836"/>
                </a:solidFill>
                <a:latin typeface="Arial"/>
                <a:ea typeface="Arial"/>
                <a:cs typeface="Arial"/>
              </a:defRPr>
            </a:pPr>
            <a:r>
              <a:rPr sz="7350" b="1">
                <a:solidFill>
                  <a:srgbClr val="D87836"/>
                </a:solidFill>
                <a:latin typeface="Arial"/>
                <a:ea typeface="Arial"/>
                <a:cs typeface="Arial"/>
              </a:rPr>
              <a:t>−3,1 %</a:t>
            </a:r>
          </a:p>
        </p:txBody>
      </p:sp>
      <p:sp>
        <p:nvSpPr>
          <p:cNvPr id="11" name="variación de enero a julio">
            <a:extLst xmlns:a="http://schemas.openxmlformats.org/drawingml/2006/main">
              <a:ext uri="{FF2B5EF4-FFF2-40B4-BE49-F238E27FC236}">
                <a16:creationId xmlns:a16="http://schemas.microsoft.com/office/drawing/2014/main" id="{E4BD0C80-A4F2-4E06-ADF2-672D70090546}"/>
              </a:ext>
            </a:extLst>
          </p:cNvPr>
          <p:cNvSpPr>
            <a:spLocks xmlns:a="http://schemas.openxmlformats.org/drawingml/2006/main" noGrp="1"/>
          </p:cNvSpPr>
          <p:nvPr/>
        </p:nvSpPr>
        <p:spPr>
          <a:xfrm xmlns:a="http://schemas.openxmlformats.org/drawingml/2006/main">
            <a:off x="10668000" y="3638550"/>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566775"/>
                </a:solidFill>
                <a:latin typeface="Arial"/>
                <a:ea typeface="Arial"/>
                <a:cs typeface="Arial"/>
              </a:defRPr>
            </a:defPPr>
          </a:lstStyle>
          <a:p xmlns:a="http://schemas.openxmlformats.org/drawingml/2006/main">
            <a:pPr algn="l">
              <a:defRPr sz="2250" b="0">
                <a:solidFill>
                  <a:srgbClr val="566775"/>
                </a:solidFill>
                <a:latin typeface="Arial"/>
                <a:ea typeface="Arial"/>
                <a:cs typeface="Arial"/>
              </a:defRPr>
            </a:pPr>
            <a:r>
              <a:rPr sz="2250" b="0">
                <a:solidFill>
                  <a:srgbClr val="566775"/>
                </a:solidFill>
                <a:latin typeface="Arial"/>
                <a:ea typeface="Arial"/>
                <a:cs typeface="Arial"/>
              </a:rPr>
              <a:t>variación de enero a julio</a:t>
            </a:r>
          </a:p>
        </p:txBody>
      </p:sp>
      <p:sp>
        <p:nvSpPr>
          <p:cNvPr id="12" name="Periodo comparable sin adelantos&#10;ni caídas posteriores">
            <a:extLst xmlns:a="http://schemas.openxmlformats.org/drawingml/2006/main">
              <a:ext uri="{FF2B5EF4-FFF2-40B4-BE49-F238E27FC236}">
                <a16:creationId xmlns:a16="http://schemas.microsoft.com/office/drawing/2014/main" id="{24606972-3AB1-4D23-BCF7-DC72EF9CBA48}"/>
              </a:ext>
            </a:extLst>
          </p:cNvPr>
          <p:cNvSpPr>
            <a:spLocks xmlns:a="http://schemas.openxmlformats.org/drawingml/2006/main" noGrp="1"/>
          </p:cNvSpPr>
          <p:nvPr/>
        </p:nvSpPr>
        <p:spPr>
          <a:xfrm xmlns:a="http://schemas.openxmlformats.org/drawingml/2006/main">
            <a:off x="10668000" y="4524375"/>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566775"/>
                </a:solidFill>
                <a:latin typeface="Arial"/>
                <a:ea typeface="Arial"/>
                <a:cs typeface="Arial"/>
              </a:defRPr>
            </a:defPPr>
          </a:lstStyle>
          <a:p xmlns:a="http://schemas.openxmlformats.org/drawingml/2006/main">
            <a:pPr algn="l">
              <a:defRPr sz="2025" b="0">
                <a:solidFill>
                  <a:srgbClr val="566775"/>
                </a:solidFill>
                <a:latin typeface="Arial"/>
                <a:ea typeface="Arial"/>
                <a:cs typeface="Arial"/>
              </a:defRPr>
            </a:pPr>
            <a:r>
              <a:rPr sz="2025" b="0">
                <a:solidFill>
                  <a:srgbClr val="566775"/>
                </a:solidFill>
                <a:latin typeface="Arial"/>
                <a:ea typeface="Arial"/>
                <a:cs typeface="Arial"/>
              </a:rPr>
              <a:t>Periodo comparable sin adelantos</a:t>
            </a:r>
          </a:p>
          <a:p xmlns:a="http://schemas.openxmlformats.org/drawingml/2006/main">
            <a:pPr algn="l">
              <a:defRPr sz="2025" b="0">
                <a:solidFill>
                  <a:srgbClr val="566775"/>
                </a:solidFill>
                <a:latin typeface="Arial"/>
                <a:ea typeface="Arial"/>
                <a:cs typeface="Arial"/>
              </a:defRPr>
            </a:pPr>
            <a:r>
              <a:rPr sz="2025" b="0">
                <a:solidFill>
                  <a:srgbClr val="566775"/>
                </a:solidFill>
                <a:latin typeface="Arial"/>
                <a:ea typeface="Arial"/>
                <a:cs typeface="Arial"/>
              </a:rPr>
              <a:t>ni caídas posteriores</a:t>
            </a:r>
          </a:p>
        </p:txBody>
      </p:sp>
      <p:sp>
        <p:nvSpPr>
          <p:cNvPr id="13" name="10,7 % de automatriculaciones">
            <a:extLst xmlns:a="http://schemas.openxmlformats.org/drawingml/2006/main">
              <a:ext uri="{FF2B5EF4-FFF2-40B4-BE49-F238E27FC236}">
                <a16:creationId xmlns:a16="http://schemas.microsoft.com/office/drawing/2014/main" id="{581410E0-0653-46E5-AFE7-CBA03DE28080}"/>
              </a:ext>
            </a:extLst>
          </p:cNvPr>
          <p:cNvSpPr>
            <a:spLocks xmlns:a="http://schemas.openxmlformats.org/drawingml/2006/main" noGrp="1"/>
          </p:cNvSpPr>
          <p:nvPr/>
        </p:nvSpPr>
        <p:spPr>
          <a:xfrm xmlns:a="http://schemas.openxmlformats.org/drawingml/2006/main">
            <a:off x="762000" y="574357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142B40"/>
                </a:solidFill>
                <a:latin typeface="Arial"/>
                <a:ea typeface="Arial"/>
                <a:cs typeface="Arial"/>
              </a:defRPr>
            </a:defPPr>
          </a:lstStyle>
          <a:p xmlns:a="http://schemas.openxmlformats.org/drawingml/2006/main">
            <a:pPr algn="l">
              <a:defRPr sz="2550" b="1">
                <a:solidFill>
                  <a:srgbClr val="142B40"/>
                </a:solidFill>
                <a:latin typeface="Arial"/>
                <a:ea typeface="Arial"/>
                <a:cs typeface="Arial"/>
              </a:defRPr>
            </a:pPr>
            <a:r>
              <a:rPr sz="2550" b="1">
                <a:solidFill>
                  <a:srgbClr val="142B40"/>
                </a:solidFill>
                <a:latin typeface="Arial"/>
                <a:ea typeface="Arial"/>
                <a:cs typeface="Arial"/>
              </a:rPr>
              <a:t>10,7 % de automatriculaciones</a:t>
            </a:r>
          </a:p>
        </p:txBody>
      </p:sp>
      <p:sp>
        <p:nvSpPr>
          <p:cNvPr id="14" name="Son matriculaciones de la marca o de los concesionarios">
            <a:extLst xmlns:a="http://schemas.openxmlformats.org/drawingml/2006/main">
              <a:ext uri="{FF2B5EF4-FFF2-40B4-BE49-F238E27FC236}">
                <a16:creationId xmlns:a16="http://schemas.microsoft.com/office/drawing/2014/main" id="{E6075488-AD0A-47C6-BC91-6F51F0FCC36C}"/>
              </a:ext>
            </a:extLst>
          </p:cNvPr>
          <p:cNvSpPr>
            <a:spLocks xmlns:a="http://schemas.openxmlformats.org/drawingml/2006/main" noGrp="1"/>
          </p:cNvSpPr>
          <p:nvPr/>
        </p:nvSpPr>
        <p:spPr>
          <a:xfrm xmlns:a="http://schemas.openxmlformats.org/drawingml/2006/main">
            <a:off x="762000" y="6343650"/>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566775"/>
                </a:solidFill>
                <a:latin typeface="Arial"/>
                <a:ea typeface="Arial"/>
                <a:cs typeface="Arial"/>
              </a:defRPr>
            </a:defPPr>
          </a:lstStyle>
          <a:p xmlns:a="http://schemas.openxmlformats.org/drawingml/2006/main">
            <a:pPr algn="l">
              <a:defRPr sz="2250" b="0">
                <a:solidFill>
                  <a:srgbClr val="566775"/>
                </a:solidFill>
                <a:latin typeface="Arial"/>
                <a:ea typeface="Arial"/>
                <a:cs typeface="Arial"/>
              </a:defRPr>
            </a:pPr>
            <a:r>
              <a:rPr sz="2250" b="0">
                <a:solidFill>
                  <a:srgbClr val="566775"/>
                </a:solidFill>
                <a:latin typeface="Arial"/>
                <a:ea typeface="Arial"/>
                <a:cs typeface="Arial"/>
              </a:rPr>
              <a:t>Son matriculaciones de la marca o de los concesionarios. Las excluimos de la demanda de clientes.</a:t>
            </a:r>
          </a:p>
        </p:txBody>
      </p:sp>
      <p:sp>
        <p:nvSpPr>
          <p:cNvPr id="15" name="Compras adelantadas al cierre del año">
            <a:extLst xmlns:a="http://schemas.openxmlformats.org/drawingml/2006/main">
              <a:ext uri="{FF2B5EF4-FFF2-40B4-BE49-F238E27FC236}">
                <a16:creationId xmlns:a16="http://schemas.microsoft.com/office/drawing/2014/main" id="{E673D9FB-DCC2-49D3-829D-C94F69DB9132}"/>
              </a:ext>
            </a:extLst>
          </p:cNvPr>
          <p:cNvSpPr>
            <a:spLocks xmlns:a="http://schemas.openxmlformats.org/drawingml/2006/main" noGrp="1"/>
          </p:cNvSpPr>
          <p:nvPr/>
        </p:nvSpPr>
        <p:spPr>
          <a:xfrm xmlns:a="http://schemas.openxmlformats.org/drawingml/2006/main">
            <a:off x="8096250" y="5743575"/>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142B40"/>
                </a:solidFill>
                <a:latin typeface="Arial"/>
                <a:ea typeface="Arial"/>
                <a:cs typeface="Arial"/>
              </a:defRPr>
            </a:defPPr>
          </a:lstStyle>
          <a:p xmlns:a="http://schemas.openxmlformats.org/drawingml/2006/main">
            <a:pPr algn="l">
              <a:defRPr sz="2550" b="1">
                <a:solidFill>
                  <a:srgbClr val="142B40"/>
                </a:solidFill>
                <a:latin typeface="Arial"/>
                <a:ea typeface="Arial"/>
                <a:cs typeface="Arial"/>
              </a:defRPr>
            </a:pPr>
            <a:r>
              <a:rPr sz="2550" b="1">
                <a:solidFill>
                  <a:srgbClr val="142B40"/>
                </a:solidFill>
                <a:latin typeface="Arial"/>
                <a:ea typeface="Arial"/>
                <a:cs typeface="Arial"/>
              </a:rPr>
              <a:t>Compras adelantadas al cierre del año</a:t>
            </a:r>
          </a:p>
        </p:txBody>
      </p:sp>
      <p:sp>
        <p:nvSpPr>
          <p:cNvPr id="16" name="Noviembre y diciembre concentran el crecimiento. Parte ">
            <a:extLst xmlns:a="http://schemas.openxmlformats.org/drawingml/2006/main">
              <a:ext uri="{FF2B5EF4-FFF2-40B4-BE49-F238E27FC236}">
                <a16:creationId xmlns:a16="http://schemas.microsoft.com/office/drawing/2014/main" id="{7A15F8AB-0640-4599-BEE9-346EC7A92303}"/>
              </a:ext>
            </a:extLst>
          </p:cNvPr>
          <p:cNvSpPr>
            <a:spLocks xmlns:a="http://schemas.openxmlformats.org/drawingml/2006/main" noGrp="1"/>
          </p:cNvSpPr>
          <p:nvPr/>
        </p:nvSpPr>
        <p:spPr>
          <a:xfrm xmlns:a="http://schemas.openxmlformats.org/drawingml/2006/main">
            <a:off x="8096250" y="6343650"/>
            <a:ext cx="638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566775"/>
                </a:solidFill>
                <a:latin typeface="Arial"/>
                <a:ea typeface="Arial"/>
                <a:cs typeface="Arial"/>
              </a:defRPr>
            </a:defPPr>
          </a:lstStyle>
          <a:p xmlns:a="http://schemas.openxmlformats.org/drawingml/2006/main">
            <a:pPr algn="l">
              <a:defRPr sz="2250" b="0">
                <a:solidFill>
                  <a:srgbClr val="566775"/>
                </a:solidFill>
                <a:latin typeface="Arial"/>
                <a:ea typeface="Arial"/>
                <a:cs typeface="Arial"/>
              </a:defRPr>
            </a:pPr>
            <a:r>
              <a:rPr sz="2250" b="0">
                <a:solidFill>
                  <a:srgbClr val="566775"/>
                </a:solidFill>
                <a:latin typeface="Arial"/>
                <a:ea typeface="Arial"/>
                <a:cs typeface="Arial"/>
              </a:rPr>
              <a:t>Noviembre y diciembre concentran el crecimiento. Parte de esas compras corresponde a la demanda de A013.</a:t>
            </a:r>
          </a:p>
        </p:txBody>
      </p:sp>
    </p:spTree>
    <p:extLst>
      <p:ext uri="{BB962C8B-B14F-4D97-AF65-F5344CB8AC3E}">
        <p14:creationId xmlns:p14="http://schemas.microsoft.com/office/powerpoint/2010/main" val="10864690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evisión de demanda de Kaido en A013">
            <a:extLst xmlns:a="http://schemas.openxmlformats.org/drawingml/2006/main">
              <a:ext uri="{FF2B5EF4-FFF2-40B4-BE49-F238E27FC236}">
                <a16:creationId xmlns:a16="http://schemas.microsoft.com/office/drawing/2014/main" id="{00059318-FD00-4888-A8CC-30D92B6A8B25}"/>
              </a:ext>
            </a:extLst>
          </p:cNvPr>
          <p:cNvSpPr>
            <a:spLocks xmlns:a="http://schemas.openxmlformats.org/drawingml/2006/main" noGrp="1"/>
          </p:cNvSpPr>
          <p:nvPr/>
        </p:nvSpPr>
        <p:spPr>
          <a:xfrm xmlns:a="http://schemas.openxmlformats.org/drawingml/2006/main">
            <a:off x="762000" y="552450"/>
            <a:ext cx="1371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142B40"/>
                </a:solidFill>
                <a:latin typeface="Arial"/>
                <a:ea typeface="Arial"/>
                <a:cs typeface="Arial"/>
              </a:defRPr>
            </a:defPPr>
          </a:lstStyle>
          <a:p xmlns:a="http://schemas.openxmlformats.org/drawingml/2006/main">
            <a:pPr algn="l">
              <a:defRPr sz="4200" b="1">
                <a:solidFill>
                  <a:srgbClr val="142B40"/>
                </a:solidFill>
                <a:latin typeface="Arial"/>
                <a:ea typeface="Arial"/>
                <a:cs typeface="Arial"/>
              </a:defRPr>
            </a:pPr>
            <a:r>
              <a:rPr sz="4200" b="1">
                <a:solidFill>
                  <a:srgbClr val="142B40"/>
                </a:solidFill>
                <a:latin typeface="Arial"/>
                <a:ea typeface="Arial"/>
                <a:cs typeface="Arial"/>
              </a:rPr>
              <a:t>Previsión de demanda de Kaido en A013</a:t>
            </a:r>
          </a:p>
        </p:txBody>
      </p:sp>
      <p:sp>
        <p:nvSpPr>
          <p:cNvPr id="2" name="Mercado total × peso de cada segmento × cuota de Kaido">
            <a:extLst xmlns:a="http://schemas.openxmlformats.org/drawingml/2006/main">
              <a:ext uri="{FF2B5EF4-FFF2-40B4-BE49-F238E27FC236}">
                <a16:creationId xmlns:a16="http://schemas.microsoft.com/office/drawing/2014/main" id="{D089A950-E840-4B24-B95F-47A84F584811}"/>
              </a:ext>
            </a:extLst>
          </p:cNvPr>
          <p:cNvSpPr>
            <a:spLocks xmlns:a="http://schemas.openxmlformats.org/drawingml/2006/main" noGrp="1"/>
          </p:cNvSpPr>
          <p:nvPr/>
        </p:nvSpPr>
        <p:spPr>
          <a:xfrm xmlns:a="http://schemas.openxmlformats.org/drawingml/2006/main">
            <a:off x="762000" y="1438275"/>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66775"/>
                </a:solidFill>
                <a:latin typeface="Arial"/>
                <a:ea typeface="Arial"/>
                <a:cs typeface="Arial"/>
              </a:defRPr>
            </a:defPPr>
          </a:lstStyle>
          <a:p xmlns:a="http://schemas.openxmlformats.org/drawingml/2006/main">
            <a:pPr algn="l">
              <a:defRPr sz="2100" b="0">
                <a:solidFill>
                  <a:srgbClr val="566775"/>
                </a:solidFill>
                <a:latin typeface="Arial"/>
                <a:ea typeface="Arial"/>
                <a:cs typeface="Arial"/>
              </a:defRPr>
            </a:pPr>
            <a:r>
              <a:rPr sz="2100" b="0">
                <a:solidFill>
                  <a:srgbClr val="566775"/>
                </a:solidFill>
                <a:latin typeface="Arial"/>
                <a:ea typeface="Arial"/>
                <a:cs typeface="Arial"/>
              </a:rPr>
              <a:t>Mercado total × peso de cada segmento × cuota de Kaido</a:t>
            </a:r>
          </a:p>
        </p:txBody>
      </p:sp>
      <p:sp>
        <p:nvSpPr>
          <p:cNvPr id="3" name="2 / 5">
            <a:extLst xmlns:a="http://schemas.openxmlformats.org/drawingml/2006/main">
              <a:ext uri="{FF2B5EF4-FFF2-40B4-BE49-F238E27FC236}">
                <a16:creationId xmlns:a16="http://schemas.microsoft.com/office/drawing/2014/main" id="{0E163F23-578F-4E9D-BE3A-915999204F71}"/>
              </a:ext>
            </a:extLst>
          </p:cNvPr>
          <p:cNvSpPr>
            <a:spLocks xmlns:a="http://schemas.openxmlformats.org/drawingml/2006/main" noGrp="1"/>
          </p:cNvSpPr>
          <p:nvPr/>
        </p:nvSpPr>
        <p:spPr>
          <a:xfrm xmlns:a="http://schemas.openxmlformats.org/drawingml/2006/main">
            <a:off x="13763625" y="806767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500" b="0">
                <a:solidFill>
                  <a:srgbClr val="566775"/>
                </a:solidFill>
                <a:latin typeface="Arial"/>
                <a:ea typeface="Arial"/>
                <a:cs typeface="Arial"/>
              </a:defRPr>
            </a:defPPr>
          </a:lstStyle>
          <a:p xmlns:a="http://schemas.openxmlformats.org/drawingml/2006/main">
            <a:pPr algn="r">
              <a:defRPr sz="1500" b="0">
                <a:solidFill>
                  <a:srgbClr val="566775"/>
                </a:solidFill>
                <a:latin typeface="Arial"/>
                <a:ea typeface="Arial"/>
                <a:cs typeface="Arial"/>
              </a:defRPr>
            </a:pPr>
            <a:r>
              <a:rPr sz="1500" b="0">
                <a:solidFill>
                  <a:srgbClr val="566775"/>
                </a:solidFill>
                <a:latin typeface="Arial"/>
                <a:ea typeface="Arial"/>
                <a:cs typeface="Arial"/>
              </a:rPr>
              <a:t>2 / 5</a:t>
            </a:r>
          </a:p>
        </p:txBody>
      </p:sp>
      <p:graphicFrame>
        <p:nvGraphicFramePr>
          <p:cNvPr id="4" name="">
            <a:extLst xmlns:a="http://schemas.openxmlformats.org/drawingml/2006/main">
              <a:ext uri="{FF2B5EF4-FFF2-40B4-BE49-F238E27FC236}">
                <a16:creationId xmlns:a16="http://schemas.microsoft.com/office/drawing/2014/main" id="{ED3E900A-2D4C-4045-9528-CB8BA56FD888}"/>
              </a:ext>
            </a:extLst>
          </p:cNvPr>
          <p:cNvGraphicFramePr/>
          <p:nvPr/>
        </p:nvGraphicFramePr>
        <p:xfrm>
          <a:off xmlns:a="http://schemas.openxmlformats.org/drawingml/2006/main" x="762000" y="2400300"/>
          <a:ext xmlns:a="http://schemas.openxmlformats.org/drawingml/2006/main" cx="7762875" cy="4714875"/>
        </p:xfrm>
        <a:graphic xmlns:a="http://schemas.openxmlformats.org/drawingml/2006/main">
          <a:graphicData uri="http://schemas.openxmlformats.org/drawingml/2006/table">
            <a:tbl>
              <a:tblPr firstRow="0" bandRow="0"/>
              <a:tblGrid>
                <a:gridCol w="2762250"/>
                <a:gridCol w="1666875"/>
                <a:gridCol w="1666875"/>
                <a:gridCol w="1666875"/>
              </a:tblGrid>
              <a:tr h="523875">
                <a:tc>
                  <a:txBody>
                    <a:bodyPr lIns="133350" tIns="66675" rIns="133350" bIns="66675"/>
                    <a:lstStyle/>
                    <a:p>
                      <a:pPr algn="l"/>
                      <a:r>
                        <a:rPr sz="1950" b="1">
                          <a:solidFill>
                            <a:srgbClr val="FFFFFF"/>
                          </a:solidFill>
                          <a:latin typeface="Arial"/>
                          <a:ea typeface="Arial"/>
                          <a:cs typeface="Arial"/>
                        </a:rPr>
                        <a:t>Segmento</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1950" b="1">
                          <a:solidFill>
                            <a:srgbClr val="FFFFFF"/>
                          </a:solidFill>
                          <a:latin typeface="Arial"/>
                          <a:ea typeface="Arial"/>
                          <a:cs typeface="Arial"/>
                        </a:rPr>
                        <a:t>Pesimista</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1950" b="1">
                          <a:solidFill>
                            <a:srgbClr val="FFFFFF"/>
                          </a:solidFill>
                          <a:latin typeface="Arial"/>
                          <a:ea typeface="Arial"/>
                          <a:cs typeface="Arial"/>
                        </a:rPr>
                        <a:t>Central</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1950" b="1">
                          <a:solidFill>
                            <a:srgbClr val="FFFFFF"/>
                          </a:solidFill>
                          <a:latin typeface="Arial"/>
                          <a:ea typeface="Arial"/>
                          <a:cs typeface="Arial"/>
                        </a:rPr>
                        <a:t>Optimista</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r>
              <a:tr h="523875">
                <a:tc>
                  <a:txBody>
                    <a:bodyPr lIns="133350" tIns="66675" rIns="133350" bIns="66675"/>
                    <a:lstStyle/>
                    <a:p>
                      <a:pPr algn="l"/>
                      <a:r>
                        <a:rPr sz="1950" b="0">
                          <a:solidFill>
                            <a:srgbClr val="142B40"/>
                          </a:solidFill>
                          <a:latin typeface="Arial"/>
                          <a:ea typeface="Arial"/>
                          <a:cs typeface="Arial"/>
                        </a:rPr>
                        <a:t>SUV medio</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5.483</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7.020</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9.091</a:t>
                      </a:r>
                    </a:p>
                  </a:txBody>
                  <a:tcPr marL="91440" marR="91440" marT="45720" marB="45720" anchor="ctr">
                    <a:lnR w="0">
                      <a:solidFill>
                        <a:srgbClr val="FFFFFF"/>
                      </a:solidFill>
                    </a:lnR>
                    <a:lnB w="0">
                      <a:solidFill>
                        <a:srgbClr val="FFFFFF"/>
                      </a:solidFill>
                    </a:lnB>
                    <a:solidFill>
                      <a:srgbClr val="FFFFFF"/>
                    </a:solidFill>
                  </a:tcPr>
                </a:tc>
              </a:tr>
              <a:tr h="523875">
                <a:tc>
                  <a:txBody>
                    <a:bodyPr lIns="133350" tIns="66675" rIns="133350" bIns="66675"/>
                    <a:lstStyle/>
                    <a:p>
                      <a:pPr algn="l"/>
                      <a:r>
                        <a:rPr sz="1950" b="0">
                          <a:solidFill>
                            <a:srgbClr val="142B40"/>
                          </a:solidFill>
                          <a:latin typeface="Arial"/>
                          <a:ea typeface="Arial"/>
                          <a:cs typeface="Arial"/>
                        </a:rPr>
                        <a:t>SUV pequeño</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5.186</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6.632</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8.582</a:t>
                      </a:r>
                    </a:p>
                  </a:txBody>
                  <a:tcPr marL="91440" marR="91440" marT="45720" marB="45720" anchor="ctr">
                    <a:lnR w="0">
                      <a:solidFill>
                        <a:srgbClr val="FFFFFF"/>
                      </a:solidFill>
                    </a:lnR>
                    <a:lnB w="0">
                      <a:solidFill>
                        <a:srgbClr val="FFFFFF"/>
                      </a:solidFill>
                    </a:lnB>
                    <a:solidFill>
                      <a:srgbClr val="EFF4F6"/>
                    </a:solidFill>
                  </a:tcPr>
                </a:tc>
              </a:tr>
              <a:tr h="523875">
                <a:tc>
                  <a:txBody>
                    <a:bodyPr lIns="133350" tIns="66675" rIns="133350" bIns="66675"/>
                    <a:lstStyle/>
                    <a:p>
                      <a:pPr algn="l"/>
                      <a:r>
                        <a:rPr sz="1950" b="0">
                          <a:solidFill>
                            <a:srgbClr val="142B40"/>
                          </a:solidFill>
                          <a:latin typeface="Arial"/>
                          <a:ea typeface="Arial"/>
                          <a:cs typeface="Arial"/>
                        </a:rPr>
                        <a:t>Compacto</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2.670</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3.164</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3.805</a:t>
                      </a:r>
                    </a:p>
                  </a:txBody>
                  <a:tcPr marL="91440" marR="91440" marT="45720" marB="45720" anchor="ctr">
                    <a:lnR w="0">
                      <a:solidFill>
                        <a:srgbClr val="FFFFFF"/>
                      </a:solidFill>
                    </a:lnR>
                    <a:lnB w="0">
                      <a:solidFill>
                        <a:srgbClr val="FFFFFF"/>
                      </a:solidFill>
                    </a:lnB>
                    <a:solidFill>
                      <a:srgbClr val="FFFFFF"/>
                    </a:solidFill>
                  </a:tcPr>
                </a:tc>
              </a:tr>
              <a:tr h="523875">
                <a:tc>
                  <a:txBody>
                    <a:bodyPr lIns="133350" tIns="66675" rIns="133350" bIns="66675"/>
                    <a:lstStyle/>
                    <a:p>
                      <a:pPr algn="l"/>
                      <a:r>
                        <a:rPr sz="1950" b="0">
                          <a:solidFill>
                            <a:srgbClr val="142B40"/>
                          </a:solidFill>
                          <a:latin typeface="Arial"/>
                          <a:ea typeface="Arial"/>
                          <a:cs typeface="Arial"/>
                        </a:rPr>
                        <a:t>SUV compacto</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2.433</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3.108</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4.018</a:t>
                      </a:r>
                    </a:p>
                  </a:txBody>
                  <a:tcPr marL="91440" marR="91440" marT="45720" marB="45720" anchor="ctr">
                    <a:lnR w="0">
                      <a:solidFill>
                        <a:srgbClr val="FFFFFF"/>
                      </a:solidFill>
                    </a:lnR>
                    <a:lnB w="0">
                      <a:solidFill>
                        <a:srgbClr val="FFFFFF"/>
                      </a:solidFill>
                    </a:lnB>
                    <a:solidFill>
                      <a:srgbClr val="EFF4F6"/>
                    </a:solidFill>
                  </a:tcPr>
                </a:tc>
              </a:tr>
              <a:tr h="523875">
                <a:tc>
                  <a:txBody>
                    <a:bodyPr lIns="133350" tIns="66675" rIns="133350" bIns="66675"/>
                    <a:lstStyle/>
                    <a:p>
                      <a:pPr algn="l"/>
                      <a:r>
                        <a:rPr sz="1950" b="0">
                          <a:solidFill>
                            <a:srgbClr val="142B40"/>
                          </a:solidFill>
                          <a:latin typeface="Arial"/>
                          <a:ea typeface="Arial"/>
                          <a:cs typeface="Arial"/>
                        </a:rPr>
                        <a:t>Pequeño</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1.020</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1.301</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1.680</a:t>
                      </a:r>
                    </a:p>
                  </a:txBody>
                  <a:tcPr marL="91440" marR="91440" marT="45720" marB="45720" anchor="ctr">
                    <a:lnR w="0">
                      <a:solidFill>
                        <a:srgbClr val="FFFFFF"/>
                      </a:solidFill>
                    </a:lnR>
                    <a:lnB w="0">
                      <a:solidFill>
                        <a:srgbClr val="FFFFFF"/>
                      </a:solidFill>
                    </a:lnB>
                    <a:solidFill>
                      <a:srgbClr val="FFFFFF"/>
                    </a:solidFill>
                  </a:tcPr>
                </a:tc>
              </a:tr>
              <a:tr h="523875">
                <a:tc>
                  <a:txBody>
                    <a:bodyPr lIns="133350" tIns="66675" rIns="133350" bIns="66675"/>
                    <a:lstStyle/>
                    <a:p>
                      <a:pPr algn="l"/>
                      <a:r>
                        <a:rPr sz="1950" b="0">
                          <a:solidFill>
                            <a:srgbClr val="142B40"/>
                          </a:solidFill>
                          <a:latin typeface="Arial"/>
                          <a:ea typeface="Arial"/>
                          <a:cs typeface="Arial"/>
                        </a:rPr>
                        <a:t>Berlina media</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315</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373</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449</a:t>
                      </a:r>
                    </a:p>
                  </a:txBody>
                  <a:tcPr marL="91440" marR="91440" marT="45720" marB="45720" anchor="ctr">
                    <a:lnR w="0">
                      <a:solidFill>
                        <a:srgbClr val="FFFFFF"/>
                      </a:solidFill>
                    </a:lnR>
                    <a:lnB w="0">
                      <a:solidFill>
                        <a:srgbClr val="FFFFFF"/>
                      </a:solidFill>
                    </a:lnB>
                    <a:solidFill>
                      <a:srgbClr val="EFF4F6"/>
                    </a:solidFill>
                  </a:tcPr>
                </a:tc>
              </a:tr>
              <a:tr h="523875">
                <a:tc>
                  <a:txBody>
                    <a:bodyPr lIns="133350" tIns="66675" rIns="133350" bIns="66675"/>
                    <a:lstStyle/>
                    <a:p>
                      <a:pPr algn="l"/>
                      <a:r>
                        <a:rPr sz="1950" b="0">
                          <a:solidFill>
                            <a:srgbClr val="142B40"/>
                          </a:solidFill>
                          <a:latin typeface="Arial"/>
                          <a:ea typeface="Arial"/>
                          <a:cs typeface="Arial"/>
                        </a:rPr>
                        <a:t>Descapotable</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300</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355</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427</a:t>
                      </a:r>
                    </a:p>
                  </a:txBody>
                  <a:tcPr marL="91440" marR="91440" marT="45720" marB="45720" anchor="ctr">
                    <a:lnR w="0">
                      <a:solidFill>
                        <a:srgbClr val="FFFFFF"/>
                      </a:solidFill>
                    </a:lnR>
                    <a:lnB w="0">
                      <a:solidFill>
                        <a:srgbClr val="FFFFFF"/>
                      </a:solidFill>
                    </a:lnB>
                    <a:solidFill>
                      <a:srgbClr val="FFFFFF"/>
                    </a:solidFill>
                  </a:tcPr>
                </a:tc>
              </a:tr>
              <a:tr h="523875">
                <a:tc>
                  <a:txBody>
                    <a:bodyPr lIns="133350" tIns="66675" rIns="133350" bIns="66675"/>
                    <a:lstStyle/>
                    <a:p>
                      <a:pPr algn="l"/>
                      <a:r>
                        <a:rPr sz="1950" b="0">
                          <a:solidFill>
                            <a:srgbClr val="142B40"/>
                          </a:solidFill>
                          <a:latin typeface="Arial"/>
                          <a:ea typeface="Arial"/>
                          <a:cs typeface="Arial"/>
                        </a:rPr>
                        <a:t>TOTAL</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17.407</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21.953</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28.051</a:t>
                      </a:r>
                    </a:p>
                  </a:txBody>
                  <a:tcPr marL="91440" marR="91440" marT="45720" marB="45720" anchor="ctr">
                    <a:lnR w="0">
                      <a:solidFill>
                        <a:srgbClr val="FFFFFF"/>
                      </a:solidFill>
                    </a:lnR>
                    <a:lnB w="0">
                      <a:solidFill>
                        <a:srgbClr val="FFFFFF"/>
                      </a:solidFill>
                    </a:lnB>
                    <a:solidFill>
                      <a:srgbClr val="EFF4F6"/>
                    </a:solidFill>
                  </a:tcPr>
                </a:tc>
              </a:tr>
            </a:tbl>
          </a:graphicData>
        </a:graphic>
      </p:graphicFrame>
      <p:sp>
        <p:nvSpPr>
          <p:cNvPr id="5" name="Demanda anual prevista, coches">
            <a:extLst xmlns:a="http://schemas.openxmlformats.org/drawingml/2006/main">
              <a:ext uri="{FF2B5EF4-FFF2-40B4-BE49-F238E27FC236}">
                <a16:creationId xmlns:a16="http://schemas.microsoft.com/office/drawing/2014/main" id="{0AE8744F-2C87-4BC0-939E-1EC5E5F482DD}"/>
              </a:ext>
            </a:extLst>
          </p:cNvPr>
          <p:cNvSpPr>
            <a:spLocks xmlns:a="http://schemas.openxmlformats.org/drawingml/2006/main" noGrp="1"/>
          </p:cNvSpPr>
          <p:nvPr/>
        </p:nvSpPr>
        <p:spPr>
          <a:xfrm xmlns:a="http://schemas.openxmlformats.org/drawingml/2006/main">
            <a:off x="9048750" y="226695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42B40"/>
                </a:solidFill>
                <a:latin typeface="Arial"/>
                <a:ea typeface="Arial"/>
                <a:cs typeface="Arial"/>
              </a:defRPr>
            </a:defPPr>
          </a:lstStyle>
          <a:p xmlns:a="http://schemas.openxmlformats.org/drawingml/2006/main">
            <a:pPr algn="l">
              <a:defRPr sz="2250" b="1">
                <a:solidFill>
                  <a:srgbClr val="142B40"/>
                </a:solidFill>
                <a:latin typeface="Arial"/>
                <a:ea typeface="Arial"/>
                <a:cs typeface="Arial"/>
              </a:defRPr>
            </a:pPr>
            <a:r>
              <a:rPr sz="2250" b="1">
                <a:solidFill>
                  <a:srgbClr val="142B40"/>
                </a:solidFill>
                <a:latin typeface="Arial"/>
                <a:ea typeface="Arial"/>
                <a:cs typeface="Arial"/>
              </a:rPr>
              <a:t>Demanda anual prevista, coches</a:t>
            </a:r>
          </a:p>
        </p:txBody>
      </p:sp>
      <p:graphicFrame>
        <p:nvGraphicFramePr>
          <p:cNvPr id="6" name="Chart">
            <a:extLst xmlns:a="http://schemas.openxmlformats.org/drawingml/2006/main">
              <a:ext uri="{FF2B5EF4-FFF2-40B4-BE49-F238E27FC236}">
                <a16:creationId xmlns:a16="http://schemas.microsoft.com/office/drawing/2014/main" id="{65C54B3B-F193-4439-9F9E-4BDBBC908069}"/>
              </a:ext>
            </a:extLst>
          </p:cNvPr>
          <p:cNvGraphicFramePr/>
          <p:nvPr/>
        </p:nvGraphicFramePr>
        <p:xfrm>
          <a:off xmlns:a="http://schemas.openxmlformats.org/drawingml/2006/main" x="8953500" y="2905125"/>
          <a:ext xmlns:a="http://schemas.openxmlformats.org/drawingml/2006/main" cx="5715000" cy="3905250"/>
        </p:xfrm>
        <a:graphic xmlns:a="http://schemas.openxmlformats.org/drawingml/2006/main">
          <a:graphicData uri="http://schemas.openxmlformats.org/drawingml/2006/chart">
            <c:chart xmlns:r="http://schemas.openxmlformats.org/officeDocument/2006/relationships" xmlns:c="http://schemas.openxmlformats.org/drawingml/2006/chart" r:id="Rea9b294bf0bd4380"/>
          </a:graphicData>
        </a:graphic>
      </p:graphicFrame>
      <p:sp>
        <p:nvSpPr>
          <p:cNvPr id="7" name="Validación del mercado total A010–A012: WAPE del 6,5 % ">
            <a:extLst xmlns:a="http://schemas.openxmlformats.org/drawingml/2006/main">
              <a:ext uri="{FF2B5EF4-FFF2-40B4-BE49-F238E27FC236}">
                <a16:creationId xmlns:a16="http://schemas.microsoft.com/office/drawing/2014/main" id="{8DE64380-E951-40B0-8E82-B1A20A73EB2F}"/>
              </a:ext>
            </a:extLst>
          </p:cNvPr>
          <p:cNvSpPr>
            <a:spLocks xmlns:a="http://schemas.openxmlformats.org/drawingml/2006/main" noGrp="1"/>
          </p:cNvSpPr>
          <p:nvPr/>
        </p:nvSpPr>
        <p:spPr>
          <a:xfrm xmlns:a="http://schemas.openxmlformats.org/drawingml/2006/main">
            <a:off x="762000" y="7458075"/>
            <a:ext cx="137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566775"/>
                </a:solidFill>
                <a:latin typeface="Arial"/>
                <a:ea typeface="Arial"/>
                <a:cs typeface="Arial"/>
              </a:defRPr>
            </a:defPPr>
          </a:lstStyle>
          <a:p xmlns:a="http://schemas.openxmlformats.org/drawingml/2006/main">
            <a:pPr algn="l">
              <a:defRPr sz="1950" b="0">
                <a:solidFill>
                  <a:srgbClr val="566775"/>
                </a:solidFill>
                <a:latin typeface="Arial"/>
                <a:ea typeface="Arial"/>
                <a:cs typeface="Arial"/>
              </a:defRPr>
            </a:pPr>
            <a:r>
              <a:rPr sz="1950" b="0">
                <a:solidFill>
                  <a:srgbClr val="566775"/>
                </a:solidFill>
                <a:latin typeface="Arial"/>
                <a:ea typeface="Arial"/>
                <a:cs typeface="Arial"/>
              </a:rPr>
              <a:t>Validación del mercado total A010–A012: WAPE del 6,5 % al 10,6 %.</a:t>
            </a:r>
          </a:p>
          <a:p xmlns:a="http://schemas.openxmlformats.org/drawingml/2006/main">
            <a:pPr algn="l">
              <a:defRPr sz="1950" b="0">
                <a:solidFill>
                  <a:srgbClr val="566775"/>
                </a:solidFill>
                <a:latin typeface="Arial"/>
                <a:ea typeface="Arial"/>
                <a:cs typeface="Arial"/>
              </a:defRPr>
            </a:pPr>
            <a:r>
              <a:rPr sz="1950" b="0">
                <a:solidFill>
                  <a:srgbClr val="566775"/>
                </a:solidFill>
                <a:latin typeface="Arial"/>
                <a:ea typeface="Arial"/>
                <a:cs typeface="Arial"/>
              </a:rPr>
              <a:t>Lanzamientos: supuesto de mejora relativa de cuota del 10 % desde abril.</a:t>
            </a:r>
          </a:p>
        </p:txBody>
      </p:sp>
    </p:spTree>
    <p:extLst>
      <p:ext uri="{BB962C8B-B14F-4D97-AF65-F5344CB8AC3E}">
        <p14:creationId xmlns:p14="http://schemas.microsoft.com/office/powerpoint/2010/main" val="11302613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lan central: unas 20.000 llegadas a la red">
            <a:extLst xmlns:a="http://schemas.openxmlformats.org/drawingml/2006/main">
              <a:ext uri="{FF2B5EF4-FFF2-40B4-BE49-F238E27FC236}">
                <a16:creationId xmlns:a16="http://schemas.microsoft.com/office/drawing/2014/main" id="{CBC35A11-65BF-4C03-94C2-F69BCFBD0317}"/>
              </a:ext>
            </a:extLst>
          </p:cNvPr>
          <p:cNvSpPr>
            <a:spLocks xmlns:a="http://schemas.openxmlformats.org/drawingml/2006/main" noGrp="1"/>
          </p:cNvSpPr>
          <p:nvPr/>
        </p:nvSpPr>
        <p:spPr>
          <a:xfrm xmlns:a="http://schemas.openxmlformats.org/drawingml/2006/main">
            <a:off x="762000" y="552450"/>
            <a:ext cx="1371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142B40"/>
                </a:solidFill>
                <a:latin typeface="Arial"/>
                <a:ea typeface="Arial"/>
                <a:cs typeface="Arial"/>
              </a:defRPr>
            </a:defPPr>
          </a:lstStyle>
          <a:p xmlns:a="http://schemas.openxmlformats.org/drawingml/2006/main">
            <a:pPr algn="l">
              <a:defRPr sz="4200" b="1">
                <a:solidFill>
                  <a:srgbClr val="142B40"/>
                </a:solidFill>
                <a:latin typeface="Arial"/>
                <a:ea typeface="Arial"/>
                <a:cs typeface="Arial"/>
              </a:defRPr>
            </a:pPr>
            <a:r>
              <a:rPr sz="4200" b="1">
                <a:solidFill>
                  <a:srgbClr val="142B40"/>
                </a:solidFill>
                <a:latin typeface="Arial"/>
                <a:ea typeface="Arial"/>
                <a:cs typeface="Arial"/>
              </a:rPr>
              <a:t>Plan central: unas 20.000 llegadas a la red</a:t>
            </a:r>
          </a:p>
        </p:txBody>
      </p:sp>
      <p:sp>
        <p:nvSpPr>
          <p:cNvPr id="2" name="Demanda prevista de 21.953 coches. Parte se atiende con">
            <a:extLst xmlns:a="http://schemas.openxmlformats.org/drawingml/2006/main">
              <a:ext uri="{FF2B5EF4-FFF2-40B4-BE49-F238E27FC236}">
                <a16:creationId xmlns:a16="http://schemas.microsoft.com/office/drawing/2014/main" id="{E7A55121-6B00-4B68-A65D-E672B3D6852C}"/>
              </a:ext>
            </a:extLst>
          </p:cNvPr>
          <p:cNvSpPr>
            <a:spLocks xmlns:a="http://schemas.openxmlformats.org/drawingml/2006/main" noGrp="1"/>
          </p:cNvSpPr>
          <p:nvPr/>
        </p:nvSpPr>
        <p:spPr>
          <a:xfrm xmlns:a="http://schemas.openxmlformats.org/drawingml/2006/main">
            <a:off x="762000" y="1438275"/>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66775"/>
                </a:solidFill>
                <a:latin typeface="Arial"/>
                <a:ea typeface="Arial"/>
                <a:cs typeface="Arial"/>
              </a:defRPr>
            </a:defPPr>
          </a:lstStyle>
          <a:p xmlns:a="http://schemas.openxmlformats.org/drawingml/2006/main">
            <a:pPr algn="l">
              <a:defRPr sz="2100" b="0">
                <a:solidFill>
                  <a:srgbClr val="566775"/>
                </a:solidFill>
                <a:latin typeface="Arial"/>
                <a:ea typeface="Arial"/>
                <a:cs typeface="Arial"/>
              </a:defRPr>
            </a:pPr>
            <a:r>
              <a:rPr sz="2100" b="0">
                <a:solidFill>
                  <a:srgbClr val="566775"/>
                </a:solidFill>
                <a:latin typeface="Arial"/>
                <a:ea typeface="Arial"/>
                <a:cs typeface="Arial"/>
              </a:rPr>
              <a:t>Demanda prevista de 21.953 coches. Parte se atiende con el stock inicial.</a:t>
            </a:r>
          </a:p>
        </p:txBody>
      </p:sp>
      <p:sp>
        <p:nvSpPr>
          <p:cNvPr id="3" name="3 / 5">
            <a:extLst xmlns:a="http://schemas.openxmlformats.org/drawingml/2006/main">
              <a:ext uri="{FF2B5EF4-FFF2-40B4-BE49-F238E27FC236}">
                <a16:creationId xmlns:a16="http://schemas.microsoft.com/office/drawing/2014/main" id="{1EE828CE-160A-4788-B28D-FDA212C02A52}"/>
              </a:ext>
            </a:extLst>
          </p:cNvPr>
          <p:cNvSpPr>
            <a:spLocks xmlns:a="http://schemas.openxmlformats.org/drawingml/2006/main" noGrp="1"/>
          </p:cNvSpPr>
          <p:nvPr/>
        </p:nvSpPr>
        <p:spPr>
          <a:xfrm xmlns:a="http://schemas.openxmlformats.org/drawingml/2006/main">
            <a:off x="13763625" y="806767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500" b="0">
                <a:solidFill>
                  <a:srgbClr val="566775"/>
                </a:solidFill>
                <a:latin typeface="Arial"/>
                <a:ea typeface="Arial"/>
                <a:cs typeface="Arial"/>
              </a:defRPr>
            </a:defPPr>
          </a:lstStyle>
          <a:p xmlns:a="http://schemas.openxmlformats.org/drawingml/2006/main">
            <a:pPr algn="r">
              <a:defRPr sz="1500" b="0">
                <a:solidFill>
                  <a:srgbClr val="566775"/>
                </a:solidFill>
                <a:latin typeface="Arial"/>
                <a:ea typeface="Arial"/>
                <a:cs typeface="Arial"/>
              </a:defRPr>
            </a:pPr>
            <a:r>
              <a:rPr sz="1500" b="0">
                <a:solidFill>
                  <a:srgbClr val="566775"/>
                </a:solidFill>
                <a:latin typeface="Arial"/>
                <a:ea typeface="Arial"/>
                <a:cs typeface="Arial"/>
              </a:rPr>
              <a:t>3 / 5</a:t>
            </a:r>
          </a:p>
        </p:txBody>
      </p:sp>
      <p:graphicFrame>
        <p:nvGraphicFramePr>
          <p:cNvPr id="4" name="">
            <a:extLst xmlns:a="http://schemas.openxmlformats.org/drawingml/2006/main">
              <a:ext uri="{FF2B5EF4-FFF2-40B4-BE49-F238E27FC236}">
                <a16:creationId xmlns:a16="http://schemas.microsoft.com/office/drawing/2014/main" id="{C66CCA80-2F5E-4C8B-82F5-7A0DB5979252}"/>
              </a:ext>
            </a:extLst>
          </p:cNvPr>
          <p:cNvGraphicFramePr/>
          <p:nvPr/>
        </p:nvGraphicFramePr>
        <p:xfrm>
          <a:off xmlns:a="http://schemas.openxmlformats.org/drawingml/2006/main" x="762000" y="2343150"/>
          <a:ext xmlns:a="http://schemas.openxmlformats.org/drawingml/2006/main" cx="6762750" cy="4543425"/>
        </p:xfrm>
        <a:graphic xmlns:a="http://schemas.openxmlformats.org/drawingml/2006/main">
          <a:graphicData uri="http://schemas.openxmlformats.org/drawingml/2006/table">
            <a:tbl>
              <a:tblPr firstRow="0" bandRow="0"/>
              <a:tblGrid>
                <a:gridCol w="3048000"/>
                <a:gridCol w="1857375"/>
                <a:gridCol w="1857375"/>
              </a:tblGrid>
              <a:tr h="504825">
                <a:tc>
                  <a:txBody>
                    <a:bodyPr lIns="133350" tIns="66675" rIns="133350" bIns="66675"/>
                    <a:lstStyle/>
                    <a:p>
                      <a:pPr algn="l"/>
                      <a:r>
                        <a:rPr sz="2025" b="1">
                          <a:solidFill>
                            <a:srgbClr val="FFFFFF"/>
                          </a:solidFill>
                          <a:latin typeface="Arial"/>
                          <a:ea typeface="Arial"/>
                          <a:cs typeface="Arial"/>
                        </a:rPr>
                        <a:t>Segmento</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2025" b="1">
                          <a:solidFill>
                            <a:srgbClr val="FFFFFF"/>
                          </a:solidFill>
                          <a:latin typeface="Arial"/>
                          <a:ea typeface="Arial"/>
                          <a:cs typeface="Arial"/>
                        </a:rPr>
                        <a:t>Demanda</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2025" b="1">
                          <a:solidFill>
                            <a:srgbClr val="FFFFFF"/>
                          </a:solidFill>
                          <a:latin typeface="Arial"/>
                          <a:ea typeface="Arial"/>
                          <a:cs typeface="Arial"/>
                        </a:rPr>
                        <a:t>Llegadas</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r>
              <a:tr h="504825">
                <a:tc>
                  <a:txBody>
                    <a:bodyPr lIns="133350" tIns="66675" rIns="133350" bIns="66675"/>
                    <a:lstStyle/>
                    <a:p>
                      <a:pPr algn="l"/>
                      <a:r>
                        <a:rPr sz="2025" b="0">
                          <a:solidFill>
                            <a:srgbClr val="142B40"/>
                          </a:solidFill>
                          <a:latin typeface="Arial"/>
                          <a:ea typeface="Arial"/>
                          <a:cs typeface="Arial"/>
                        </a:rPr>
                        <a:t>SUV medio</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2025" b="0">
                          <a:solidFill>
                            <a:srgbClr val="142B40"/>
                          </a:solidFill>
                          <a:latin typeface="Arial"/>
                          <a:ea typeface="Arial"/>
                          <a:cs typeface="Arial"/>
                        </a:rPr>
                        <a:t>7.020</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025" b="0">
                          <a:solidFill>
                            <a:srgbClr val="142B40"/>
                          </a:solidFill>
                          <a:latin typeface="Arial"/>
                          <a:ea typeface="Arial"/>
                          <a:cs typeface="Arial"/>
                        </a:rPr>
                        <a:t>6.845</a:t>
                      </a:r>
                    </a:p>
                  </a:txBody>
                  <a:tcPr marL="91440" marR="91440" marT="45720" marB="45720" anchor="ctr">
                    <a:lnR w="0">
                      <a:solidFill>
                        <a:srgbClr val="FFFFFF"/>
                      </a:solidFill>
                    </a:lnR>
                    <a:lnB w="0">
                      <a:solidFill>
                        <a:srgbClr val="FFFFFF"/>
                      </a:solidFill>
                    </a:lnB>
                    <a:solidFill>
                      <a:srgbClr val="FFFFFF"/>
                    </a:solidFill>
                  </a:tcPr>
                </a:tc>
              </a:tr>
              <a:tr h="504825">
                <a:tc>
                  <a:txBody>
                    <a:bodyPr lIns="133350" tIns="66675" rIns="133350" bIns="66675"/>
                    <a:lstStyle/>
                    <a:p>
                      <a:pPr algn="l"/>
                      <a:r>
                        <a:rPr sz="2025" b="0">
                          <a:solidFill>
                            <a:srgbClr val="142B40"/>
                          </a:solidFill>
                          <a:latin typeface="Arial"/>
                          <a:ea typeface="Arial"/>
                          <a:cs typeface="Arial"/>
                        </a:rPr>
                        <a:t>SUV pequeño</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2025" b="0">
                          <a:solidFill>
                            <a:srgbClr val="142B40"/>
                          </a:solidFill>
                          <a:latin typeface="Arial"/>
                          <a:ea typeface="Arial"/>
                          <a:cs typeface="Arial"/>
                        </a:rPr>
                        <a:t>6.632</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025" b="0">
                          <a:solidFill>
                            <a:srgbClr val="142B40"/>
                          </a:solidFill>
                          <a:latin typeface="Arial"/>
                          <a:ea typeface="Arial"/>
                          <a:cs typeface="Arial"/>
                        </a:rPr>
                        <a:t>6.955</a:t>
                      </a:r>
                    </a:p>
                  </a:txBody>
                  <a:tcPr marL="91440" marR="91440" marT="45720" marB="45720" anchor="ctr">
                    <a:lnR w="0">
                      <a:solidFill>
                        <a:srgbClr val="FFFFFF"/>
                      </a:solidFill>
                    </a:lnR>
                    <a:lnB w="0">
                      <a:solidFill>
                        <a:srgbClr val="FFFFFF"/>
                      </a:solidFill>
                    </a:lnB>
                    <a:solidFill>
                      <a:srgbClr val="EFF4F6"/>
                    </a:solidFill>
                  </a:tcPr>
                </a:tc>
              </a:tr>
              <a:tr h="504825">
                <a:tc>
                  <a:txBody>
                    <a:bodyPr lIns="133350" tIns="66675" rIns="133350" bIns="66675"/>
                    <a:lstStyle/>
                    <a:p>
                      <a:pPr algn="l"/>
                      <a:r>
                        <a:rPr sz="2025" b="0">
                          <a:solidFill>
                            <a:srgbClr val="142B40"/>
                          </a:solidFill>
                          <a:latin typeface="Arial"/>
                          <a:ea typeface="Arial"/>
                          <a:cs typeface="Arial"/>
                        </a:rPr>
                        <a:t>Compacto</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2025" b="0">
                          <a:solidFill>
                            <a:srgbClr val="142B40"/>
                          </a:solidFill>
                          <a:latin typeface="Arial"/>
                          <a:ea typeface="Arial"/>
                          <a:cs typeface="Arial"/>
                        </a:rPr>
                        <a:t>3.164</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025" b="0">
                          <a:solidFill>
                            <a:srgbClr val="142B40"/>
                          </a:solidFill>
                          <a:latin typeface="Arial"/>
                          <a:ea typeface="Arial"/>
                          <a:cs typeface="Arial"/>
                        </a:rPr>
                        <a:t>2.202</a:t>
                      </a:r>
                    </a:p>
                  </a:txBody>
                  <a:tcPr marL="91440" marR="91440" marT="45720" marB="45720" anchor="ctr">
                    <a:lnR w="0">
                      <a:solidFill>
                        <a:srgbClr val="FFFFFF"/>
                      </a:solidFill>
                    </a:lnR>
                    <a:lnB w="0">
                      <a:solidFill>
                        <a:srgbClr val="FFFFFF"/>
                      </a:solidFill>
                    </a:lnB>
                    <a:solidFill>
                      <a:srgbClr val="FFFFFF"/>
                    </a:solidFill>
                  </a:tcPr>
                </a:tc>
              </a:tr>
              <a:tr h="504825">
                <a:tc>
                  <a:txBody>
                    <a:bodyPr lIns="133350" tIns="66675" rIns="133350" bIns="66675"/>
                    <a:lstStyle/>
                    <a:p>
                      <a:pPr algn="l"/>
                      <a:r>
                        <a:rPr sz="2025" b="0">
                          <a:solidFill>
                            <a:srgbClr val="142B40"/>
                          </a:solidFill>
                          <a:latin typeface="Arial"/>
                          <a:ea typeface="Arial"/>
                          <a:cs typeface="Arial"/>
                        </a:rPr>
                        <a:t>SUV compacto</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2025" b="0">
                          <a:solidFill>
                            <a:srgbClr val="142B40"/>
                          </a:solidFill>
                          <a:latin typeface="Arial"/>
                          <a:ea typeface="Arial"/>
                          <a:cs typeface="Arial"/>
                        </a:rPr>
                        <a:t>3.108</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025" b="0">
                          <a:solidFill>
                            <a:srgbClr val="142B40"/>
                          </a:solidFill>
                          <a:latin typeface="Arial"/>
                          <a:ea typeface="Arial"/>
                          <a:cs typeface="Arial"/>
                        </a:rPr>
                        <a:t>2.325</a:t>
                      </a:r>
                    </a:p>
                  </a:txBody>
                  <a:tcPr marL="91440" marR="91440" marT="45720" marB="45720" anchor="ctr">
                    <a:lnR w="0">
                      <a:solidFill>
                        <a:srgbClr val="FFFFFF"/>
                      </a:solidFill>
                    </a:lnR>
                    <a:lnB w="0">
                      <a:solidFill>
                        <a:srgbClr val="FFFFFF"/>
                      </a:solidFill>
                    </a:lnB>
                    <a:solidFill>
                      <a:srgbClr val="EFF4F6"/>
                    </a:solidFill>
                  </a:tcPr>
                </a:tc>
              </a:tr>
              <a:tr h="504825">
                <a:tc>
                  <a:txBody>
                    <a:bodyPr lIns="133350" tIns="66675" rIns="133350" bIns="66675"/>
                    <a:lstStyle/>
                    <a:p>
                      <a:pPr algn="l"/>
                      <a:r>
                        <a:rPr sz="2025" b="0">
                          <a:solidFill>
                            <a:srgbClr val="142B40"/>
                          </a:solidFill>
                          <a:latin typeface="Arial"/>
                          <a:ea typeface="Arial"/>
                          <a:cs typeface="Arial"/>
                        </a:rPr>
                        <a:t>Pequeño</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2025" b="0">
                          <a:solidFill>
                            <a:srgbClr val="142B40"/>
                          </a:solidFill>
                          <a:latin typeface="Arial"/>
                          <a:ea typeface="Arial"/>
                          <a:cs typeface="Arial"/>
                        </a:rPr>
                        <a:t>1.301</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025" b="0">
                          <a:solidFill>
                            <a:srgbClr val="142B40"/>
                          </a:solidFill>
                          <a:latin typeface="Arial"/>
                          <a:ea typeface="Arial"/>
                          <a:cs typeface="Arial"/>
                        </a:rPr>
                        <a:t>987</a:t>
                      </a:r>
                    </a:p>
                  </a:txBody>
                  <a:tcPr marL="91440" marR="91440" marT="45720" marB="45720" anchor="ctr">
                    <a:lnR w="0">
                      <a:solidFill>
                        <a:srgbClr val="FFFFFF"/>
                      </a:solidFill>
                    </a:lnR>
                    <a:lnB w="0">
                      <a:solidFill>
                        <a:srgbClr val="FFFFFF"/>
                      </a:solidFill>
                    </a:lnB>
                    <a:solidFill>
                      <a:srgbClr val="FFFFFF"/>
                    </a:solidFill>
                  </a:tcPr>
                </a:tc>
              </a:tr>
              <a:tr h="504825">
                <a:tc>
                  <a:txBody>
                    <a:bodyPr lIns="133350" tIns="66675" rIns="133350" bIns="66675"/>
                    <a:lstStyle/>
                    <a:p>
                      <a:pPr algn="l"/>
                      <a:r>
                        <a:rPr sz="2025" b="0">
                          <a:solidFill>
                            <a:srgbClr val="142B40"/>
                          </a:solidFill>
                          <a:latin typeface="Arial"/>
                          <a:ea typeface="Arial"/>
                          <a:cs typeface="Arial"/>
                        </a:rPr>
                        <a:t>Berlina media</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2025" b="0">
                          <a:solidFill>
                            <a:srgbClr val="142B40"/>
                          </a:solidFill>
                          <a:latin typeface="Arial"/>
                          <a:ea typeface="Arial"/>
                          <a:cs typeface="Arial"/>
                        </a:rPr>
                        <a:t>373</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025" b="0">
                          <a:solidFill>
                            <a:srgbClr val="142B40"/>
                          </a:solidFill>
                          <a:latin typeface="Arial"/>
                          <a:ea typeface="Arial"/>
                          <a:cs typeface="Arial"/>
                        </a:rPr>
                        <a:t>275</a:t>
                      </a:r>
                    </a:p>
                  </a:txBody>
                  <a:tcPr marL="91440" marR="91440" marT="45720" marB="45720" anchor="ctr">
                    <a:lnR w="0">
                      <a:solidFill>
                        <a:srgbClr val="FFFFFF"/>
                      </a:solidFill>
                    </a:lnR>
                    <a:lnB w="0">
                      <a:solidFill>
                        <a:srgbClr val="FFFFFF"/>
                      </a:solidFill>
                    </a:lnB>
                    <a:solidFill>
                      <a:srgbClr val="EFF4F6"/>
                    </a:solidFill>
                  </a:tcPr>
                </a:tc>
              </a:tr>
              <a:tr h="504825">
                <a:tc>
                  <a:txBody>
                    <a:bodyPr lIns="133350" tIns="66675" rIns="133350" bIns="66675"/>
                    <a:lstStyle/>
                    <a:p>
                      <a:pPr algn="l"/>
                      <a:r>
                        <a:rPr sz="2025" b="0">
                          <a:solidFill>
                            <a:srgbClr val="142B40"/>
                          </a:solidFill>
                          <a:latin typeface="Arial"/>
                          <a:ea typeface="Arial"/>
                          <a:cs typeface="Arial"/>
                        </a:rPr>
                        <a:t>Descapotable</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2025" b="0">
                          <a:solidFill>
                            <a:srgbClr val="142B40"/>
                          </a:solidFill>
                          <a:latin typeface="Arial"/>
                          <a:ea typeface="Arial"/>
                          <a:cs typeface="Arial"/>
                        </a:rPr>
                        <a:t>355</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025" b="0">
                          <a:solidFill>
                            <a:srgbClr val="142B40"/>
                          </a:solidFill>
                          <a:latin typeface="Arial"/>
                          <a:ea typeface="Arial"/>
                          <a:cs typeface="Arial"/>
                        </a:rPr>
                        <a:t>393</a:t>
                      </a:r>
                    </a:p>
                  </a:txBody>
                  <a:tcPr marL="91440" marR="91440" marT="45720" marB="45720" anchor="ctr">
                    <a:lnR w="0">
                      <a:solidFill>
                        <a:srgbClr val="FFFFFF"/>
                      </a:solidFill>
                    </a:lnR>
                    <a:lnB w="0">
                      <a:solidFill>
                        <a:srgbClr val="FFFFFF"/>
                      </a:solidFill>
                    </a:lnB>
                    <a:solidFill>
                      <a:srgbClr val="FFFFFF"/>
                    </a:solidFill>
                  </a:tcPr>
                </a:tc>
              </a:tr>
              <a:tr h="504825">
                <a:tc>
                  <a:txBody>
                    <a:bodyPr lIns="133350" tIns="66675" rIns="133350" bIns="66675"/>
                    <a:lstStyle/>
                    <a:p>
                      <a:pPr algn="l"/>
                      <a:r>
                        <a:rPr sz="2025" b="0">
                          <a:solidFill>
                            <a:srgbClr val="142B40"/>
                          </a:solidFill>
                          <a:latin typeface="Arial"/>
                          <a:ea typeface="Arial"/>
                          <a:cs typeface="Arial"/>
                        </a:rPr>
                        <a:t>TOTAL</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2025" b="0">
                          <a:solidFill>
                            <a:srgbClr val="142B40"/>
                          </a:solidFill>
                          <a:latin typeface="Arial"/>
                          <a:ea typeface="Arial"/>
                          <a:cs typeface="Arial"/>
                        </a:rPr>
                        <a:t>21.953</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025" b="0">
                          <a:solidFill>
                            <a:srgbClr val="142B40"/>
                          </a:solidFill>
                          <a:latin typeface="Arial"/>
                          <a:ea typeface="Arial"/>
                          <a:cs typeface="Arial"/>
                        </a:rPr>
                        <a:t>19.982</a:t>
                      </a:r>
                    </a:p>
                  </a:txBody>
                  <a:tcPr marL="91440" marR="91440" marT="45720" marB="45720" anchor="ctr">
                    <a:lnR w="0">
                      <a:solidFill>
                        <a:srgbClr val="FFFFFF"/>
                      </a:solidFill>
                    </a:lnR>
                    <a:lnB w="0">
                      <a:solidFill>
                        <a:srgbClr val="FFFFFF"/>
                      </a:solidFill>
                    </a:lnB>
                    <a:solidFill>
                      <a:srgbClr val="EFF4F6"/>
                    </a:solidFill>
                  </a:tcPr>
                </a:tc>
              </a:tr>
            </a:tbl>
          </a:graphicData>
        </a:graphic>
      </p:graphicFrame>
      <p:sp>
        <p:nvSpPr>
          <p:cNvPr id="5" name="Llegadas mensuales del plan central">
            <a:extLst xmlns:a="http://schemas.openxmlformats.org/drawingml/2006/main">
              <a:ext uri="{FF2B5EF4-FFF2-40B4-BE49-F238E27FC236}">
                <a16:creationId xmlns:a16="http://schemas.microsoft.com/office/drawing/2014/main" id="{C9196B60-88B5-46E1-A535-89B979A7A9E6}"/>
              </a:ext>
            </a:extLst>
          </p:cNvPr>
          <p:cNvSpPr>
            <a:spLocks xmlns:a="http://schemas.openxmlformats.org/drawingml/2006/main" noGrp="1"/>
          </p:cNvSpPr>
          <p:nvPr/>
        </p:nvSpPr>
        <p:spPr>
          <a:xfrm xmlns:a="http://schemas.openxmlformats.org/drawingml/2006/main">
            <a:off x="8096250" y="23241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42B40"/>
                </a:solidFill>
                <a:latin typeface="Arial"/>
                <a:ea typeface="Arial"/>
                <a:cs typeface="Arial"/>
              </a:defRPr>
            </a:defPPr>
          </a:lstStyle>
          <a:p xmlns:a="http://schemas.openxmlformats.org/drawingml/2006/main">
            <a:pPr algn="l">
              <a:defRPr sz="2250" b="1">
                <a:solidFill>
                  <a:srgbClr val="142B40"/>
                </a:solidFill>
                <a:latin typeface="Arial"/>
                <a:ea typeface="Arial"/>
                <a:cs typeface="Arial"/>
              </a:defRPr>
            </a:pPr>
            <a:r>
              <a:rPr sz="2250" b="1">
                <a:solidFill>
                  <a:srgbClr val="142B40"/>
                </a:solidFill>
                <a:latin typeface="Arial"/>
                <a:ea typeface="Arial"/>
                <a:cs typeface="Arial"/>
              </a:rPr>
              <a:t>Llegadas mensuales del plan central</a:t>
            </a:r>
          </a:p>
        </p:txBody>
      </p:sp>
      <p:graphicFrame>
        <p:nvGraphicFramePr>
          <p:cNvPr id="6" name="Chart">
            <a:extLst xmlns:a="http://schemas.openxmlformats.org/drawingml/2006/main">
              <a:ext uri="{FF2B5EF4-FFF2-40B4-BE49-F238E27FC236}">
                <a16:creationId xmlns:a16="http://schemas.microsoft.com/office/drawing/2014/main" id="{58C6525E-5DB9-4473-AFE6-1169BC0D88B0}"/>
              </a:ext>
            </a:extLst>
          </p:cNvPr>
          <p:cNvGraphicFramePr/>
          <p:nvPr/>
        </p:nvGraphicFramePr>
        <p:xfrm>
          <a:off xmlns:a="http://schemas.openxmlformats.org/drawingml/2006/main" x="8001000" y="2905125"/>
          <a:ext xmlns:a="http://schemas.openxmlformats.org/drawingml/2006/main" cx="6572250" cy="3476625"/>
        </p:xfrm>
        <a:graphic xmlns:a="http://schemas.openxmlformats.org/drawingml/2006/main">
          <a:graphicData uri="http://schemas.openxmlformats.org/drawingml/2006/chart">
            <c:chart xmlns:r="http://schemas.openxmlformats.org/officeDocument/2006/relationships" xmlns:c="http://schemas.openxmlformats.org/drawingml/2006/chart" r:id="R30b5306c893c4c5b"/>
          </a:graphicData>
        </a:graphic>
      </p:graphicFrame>
      <p:sp>
        <p:nvSpPr>
          <p:cNvPr id="7" name="Enero y febrero: 2.059 coches/mes ya comprometidos.&#10;Com">
            <a:extLst xmlns:a="http://schemas.openxmlformats.org/drawingml/2006/main">
              <a:ext uri="{FF2B5EF4-FFF2-40B4-BE49-F238E27FC236}">
                <a16:creationId xmlns:a16="http://schemas.microsoft.com/office/drawing/2014/main" id="{1E32C913-A00F-46CD-9E0A-A03901F714CE}"/>
              </a:ext>
            </a:extLst>
          </p:cNvPr>
          <p:cNvSpPr>
            <a:spLocks xmlns:a="http://schemas.openxmlformats.org/drawingml/2006/main" noGrp="1"/>
          </p:cNvSpPr>
          <p:nvPr/>
        </p:nvSpPr>
        <p:spPr>
          <a:xfrm xmlns:a="http://schemas.openxmlformats.org/drawingml/2006/main">
            <a:off x="8096250" y="6581775"/>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42B40"/>
                </a:solidFill>
                <a:latin typeface="Arial"/>
                <a:ea typeface="Arial"/>
                <a:cs typeface="Arial"/>
              </a:defRPr>
            </a:defPPr>
          </a:lstStyle>
          <a:p xmlns:a="http://schemas.openxmlformats.org/drawingml/2006/main">
            <a:pPr algn="l">
              <a:defRPr sz="2025" b="0">
                <a:solidFill>
                  <a:srgbClr val="142B40"/>
                </a:solidFill>
                <a:latin typeface="Arial"/>
                <a:ea typeface="Arial"/>
                <a:cs typeface="Arial"/>
              </a:defRPr>
            </a:pPr>
            <a:r>
              <a:rPr sz="2025" b="0">
                <a:solidFill>
                  <a:srgbClr val="142B40"/>
                </a:solidFill>
                <a:latin typeface="Arial"/>
                <a:ea typeface="Arial"/>
                <a:cs typeface="Arial"/>
              </a:rPr>
              <a:t>Enero y febrero: 2.059 coches/mes ya comprometidos.</a:t>
            </a:r>
          </a:p>
          <a:p xmlns:a="http://schemas.openxmlformats.org/drawingml/2006/main">
            <a:pPr algn="l">
              <a:defRPr sz="2025" b="0">
                <a:solidFill>
                  <a:srgbClr val="142B40"/>
                </a:solidFill>
                <a:latin typeface="Arial"/>
                <a:ea typeface="Arial"/>
                <a:cs typeface="Arial"/>
              </a:defRPr>
            </a:pPr>
            <a:r>
              <a:rPr sz="2025" b="0">
                <a:solidFill>
                  <a:srgbClr val="142B40"/>
                </a:solidFill>
                <a:latin typeface="Arial"/>
                <a:ea typeface="Arial"/>
                <a:cs typeface="Arial"/>
              </a:rPr>
              <a:t>Compacto y SUV compacto: prioridad a vender el stock existente.</a:t>
            </a:r>
          </a:p>
        </p:txBody>
      </p:sp>
      <p:sp>
        <p:nvSpPr>
          <p:cNvPr id="8" name="Medias simuladas. La suma de cifras redondeadas es 19.9">
            <a:extLst xmlns:a="http://schemas.openxmlformats.org/drawingml/2006/main">
              <a:ext uri="{FF2B5EF4-FFF2-40B4-BE49-F238E27FC236}">
                <a16:creationId xmlns:a16="http://schemas.microsoft.com/office/drawing/2014/main" id="{7BCF0A26-C1F0-40C8-A6D7-A3C64E044A74}"/>
              </a:ext>
            </a:extLst>
          </p:cNvPr>
          <p:cNvSpPr>
            <a:spLocks xmlns:a="http://schemas.openxmlformats.org/drawingml/2006/main" noGrp="1"/>
          </p:cNvSpPr>
          <p:nvPr/>
        </p:nvSpPr>
        <p:spPr>
          <a:xfrm xmlns:a="http://schemas.openxmlformats.org/drawingml/2006/main">
            <a:off x="762000" y="7524750"/>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66775"/>
                </a:solidFill>
                <a:latin typeface="Arial"/>
                <a:ea typeface="Arial"/>
                <a:cs typeface="Arial"/>
              </a:defRPr>
            </a:defPPr>
          </a:lstStyle>
          <a:p xmlns:a="http://schemas.openxmlformats.org/drawingml/2006/main">
            <a:pPr algn="l">
              <a:defRPr sz="1800" b="0">
                <a:solidFill>
                  <a:srgbClr val="566775"/>
                </a:solidFill>
                <a:latin typeface="Arial"/>
                <a:ea typeface="Arial"/>
                <a:cs typeface="Arial"/>
              </a:defRPr>
            </a:pPr>
            <a:r>
              <a:rPr sz="1800" b="0">
                <a:solidFill>
                  <a:srgbClr val="566775"/>
                </a:solidFill>
                <a:latin typeface="Arial"/>
                <a:ea typeface="Arial"/>
                <a:cs typeface="Arial"/>
              </a:rPr>
              <a:t>Medias simuladas. La suma de cifras redondeadas es 19.982; la media total sin redondear es 19.988.</a:t>
            </a:r>
          </a:p>
          <a:p xmlns:a="http://schemas.openxmlformats.org/drawingml/2006/main">
            <a:pPr algn="l">
              <a:defRPr sz="1800" b="0">
                <a:solidFill>
                  <a:srgbClr val="566775"/>
                </a:solidFill>
                <a:latin typeface="Arial"/>
                <a:ea typeface="Arial"/>
                <a:cs typeface="Arial"/>
              </a:defRPr>
            </a:pPr>
            <a:r>
              <a:rPr sz="1800" b="0">
                <a:solidFill>
                  <a:srgbClr val="566775"/>
                </a:solidFill>
                <a:latin typeface="Arial"/>
                <a:ea typeface="Arial"/>
                <a:cs typeface="Arial"/>
              </a:rPr>
              <a:t>Las llegadas se revisan a tres meses vista. La fabricación debe desplazarse según ese plazo.</a:t>
            </a:r>
          </a:p>
        </p:txBody>
      </p:sp>
    </p:spTree>
    <p:extLst>
      <p:ext uri="{BB962C8B-B14F-4D97-AF65-F5344CB8AC3E}">
        <p14:creationId xmlns:p14="http://schemas.microsoft.com/office/powerpoint/2010/main" val="15249642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sultados y riesgo de los tres escenarios">
            <a:extLst xmlns:a="http://schemas.openxmlformats.org/drawingml/2006/main">
              <a:ext uri="{FF2B5EF4-FFF2-40B4-BE49-F238E27FC236}">
                <a16:creationId xmlns:a16="http://schemas.microsoft.com/office/drawing/2014/main" id="{3EE190FB-95F4-4B66-AD3D-7592DBEF56F5}"/>
              </a:ext>
            </a:extLst>
          </p:cNvPr>
          <p:cNvSpPr>
            <a:spLocks xmlns:a="http://schemas.openxmlformats.org/drawingml/2006/main" noGrp="1"/>
          </p:cNvSpPr>
          <p:nvPr/>
        </p:nvSpPr>
        <p:spPr>
          <a:xfrm xmlns:a="http://schemas.openxmlformats.org/drawingml/2006/main">
            <a:off x="762000" y="552450"/>
            <a:ext cx="1371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142B40"/>
                </a:solidFill>
                <a:latin typeface="Arial"/>
                <a:ea typeface="Arial"/>
                <a:cs typeface="Arial"/>
              </a:defRPr>
            </a:defPPr>
          </a:lstStyle>
          <a:p xmlns:a="http://schemas.openxmlformats.org/drawingml/2006/main">
            <a:pPr algn="l">
              <a:defRPr sz="4200" b="1">
                <a:solidFill>
                  <a:srgbClr val="142B40"/>
                </a:solidFill>
                <a:latin typeface="Arial"/>
                <a:ea typeface="Arial"/>
                <a:cs typeface="Arial"/>
              </a:defRPr>
            </a:pPr>
            <a:r>
              <a:rPr sz="4200" b="1">
                <a:solidFill>
                  <a:srgbClr val="142B40"/>
                </a:solidFill>
                <a:latin typeface="Arial"/>
                <a:ea typeface="Arial"/>
                <a:cs typeface="Arial"/>
              </a:rPr>
              <a:t>Resultados y riesgo de los tres escenarios</a:t>
            </a:r>
          </a:p>
        </p:txBody>
      </p:sp>
      <p:sp>
        <p:nvSpPr>
          <p:cNvPr id="2" name="Medias de 1.000 simulaciones. Plan central inicial con ">
            <a:extLst xmlns:a="http://schemas.openxmlformats.org/drawingml/2006/main">
              <a:ext uri="{FF2B5EF4-FFF2-40B4-BE49-F238E27FC236}">
                <a16:creationId xmlns:a16="http://schemas.microsoft.com/office/drawing/2014/main" id="{875B7148-B335-4F0D-95F4-77DD0971718F}"/>
              </a:ext>
            </a:extLst>
          </p:cNvPr>
          <p:cNvSpPr>
            <a:spLocks xmlns:a="http://schemas.openxmlformats.org/drawingml/2006/main" noGrp="1"/>
          </p:cNvSpPr>
          <p:nvPr/>
        </p:nvSpPr>
        <p:spPr>
          <a:xfrm xmlns:a="http://schemas.openxmlformats.org/drawingml/2006/main">
            <a:off x="762000" y="1438275"/>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66775"/>
                </a:solidFill>
                <a:latin typeface="Arial"/>
                <a:ea typeface="Arial"/>
                <a:cs typeface="Arial"/>
              </a:defRPr>
            </a:defPPr>
          </a:lstStyle>
          <a:p xmlns:a="http://schemas.openxmlformats.org/drawingml/2006/main">
            <a:pPr algn="l">
              <a:defRPr sz="2100" b="0">
                <a:solidFill>
                  <a:srgbClr val="566775"/>
                </a:solidFill>
                <a:latin typeface="Arial"/>
                <a:ea typeface="Arial"/>
                <a:cs typeface="Arial"/>
              </a:defRPr>
            </a:pPr>
            <a:r>
              <a:rPr sz="2100" b="0">
                <a:solidFill>
                  <a:srgbClr val="566775"/>
                </a:solidFill>
                <a:latin typeface="Arial"/>
                <a:ea typeface="Arial"/>
                <a:cs typeface="Arial"/>
              </a:rPr>
              <a:t>Medias de 1.000 simulaciones. Plan central inicial con revisiones a tres meses.</a:t>
            </a:r>
          </a:p>
        </p:txBody>
      </p:sp>
      <p:sp>
        <p:nvSpPr>
          <p:cNvPr id="3" name="4 / 5">
            <a:extLst xmlns:a="http://schemas.openxmlformats.org/drawingml/2006/main">
              <a:ext uri="{FF2B5EF4-FFF2-40B4-BE49-F238E27FC236}">
                <a16:creationId xmlns:a16="http://schemas.microsoft.com/office/drawing/2014/main" id="{C807DE4C-4192-4660-82FA-230C7C17916C}"/>
              </a:ext>
            </a:extLst>
          </p:cNvPr>
          <p:cNvSpPr>
            <a:spLocks xmlns:a="http://schemas.openxmlformats.org/drawingml/2006/main" noGrp="1"/>
          </p:cNvSpPr>
          <p:nvPr/>
        </p:nvSpPr>
        <p:spPr>
          <a:xfrm xmlns:a="http://schemas.openxmlformats.org/drawingml/2006/main">
            <a:off x="13763625" y="806767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500" b="0">
                <a:solidFill>
                  <a:srgbClr val="566775"/>
                </a:solidFill>
                <a:latin typeface="Arial"/>
                <a:ea typeface="Arial"/>
                <a:cs typeface="Arial"/>
              </a:defRPr>
            </a:defPPr>
          </a:lstStyle>
          <a:p xmlns:a="http://schemas.openxmlformats.org/drawingml/2006/main">
            <a:pPr algn="r">
              <a:defRPr sz="1500" b="0">
                <a:solidFill>
                  <a:srgbClr val="566775"/>
                </a:solidFill>
                <a:latin typeface="Arial"/>
                <a:ea typeface="Arial"/>
                <a:cs typeface="Arial"/>
              </a:defRPr>
            </a:pPr>
            <a:r>
              <a:rPr sz="1500" b="0">
                <a:solidFill>
                  <a:srgbClr val="566775"/>
                </a:solidFill>
                <a:latin typeface="Arial"/>
                <a:ea typeface="Arial"/>
                <a:cs typeface="Arial"/>
              </a:rPr>
              <a:t>4 / 5</a:t>
            </a:r>
          </a:p>
        </p:txBody>
      </p:sp>
      <p:graphicFrame>
        <p:nvGraphicFramePr>
          <p:cNvPr id="4" name="">
            <a:extLst xmlns:a="http://schemas.openxmlformats.org/drawingml/2006/main">
              <a:ext uri="{FF2B5EF4-FFF2-40B4-BE49-F238E27FC236}">
                <a16:creationId xmlns:a16="http://schemas.microsoft.com/office/drawing/2014/main" id="{E76AA477-0C70-4A9A-AD92-FE8B34FC2DB1}"/>
              </a:ext>
            </a:extLst>
          </p:cNvPr>
          <p:cNvGraphicFramePr/>
          <p:nvPr/>
        </p:nvGraphicFramePr>
        <p:xfrm>
          <a:off xmlns:a="http://schemas.openxmlformats.org/drawingml/2006/main" x="762000" y="2314575"/>
          <a:ext xmlns:a="http://schemas.openxmlformats.org/drawingml/2006/main" cx="13716000" cy="4886325"/>
        </p:xfrm>
        <a:graphic xmlns:a="http://schemas.openxmlformats.org/drawingml/2006/main">
          <a:graphicData uri="http://schemas.openxmlformats.org/drawingml/2006/table">
            <a:tbl>
              <a:tblPr firstRow="0" bandRow="0"/>
              <a:tblGrid>
                <a:gridCol w="5429250"/>
                <a:gridCol w="2762250"/>
                <a:gridCol w="2762250"/>
                <a:gridCol w="2762250"/>
              </a:tblGrid>
              <a:tr h="542925">
                <a:tc>
                  <a:txBody>
                    <a:bodyPr lIns="133350" tIns="66675" rIns="133350" bIns="66675"/>
                    <a:lstStyle/>
                    <a:p>
                      <a:pPr algn="l"/>
                      <a:r>
                        <a:rPr sz="2175" b="1">
                          <a:solidFill>
                            <a:srgbClr val="FFFFFF"/>
                          </a:solidFill>
                          <a:latin typeface="Arial"/>
                          <a:ea typeface="Arial"/>
                          <a:cs typeface="Arial"/>
                        </a:rPr>
                        <a:t>Resultado A013</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2175" b="1">
                          <a:solidFill>
                            <a:srgbClr val="FFFFFF"/>
                          </a:solidFill>
                          <a:latin typeface="Arial"/>
                          <a:ea typeface="Arial"/>
                          <a:cs typeface="Arial"/>
                        </a:rPr>
                        <a:t>Pesimista</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2175" b="1">
                          <a:solidFill>
                            <a:srgbClr val="FFFFFF"/>
                          </a:solidFill>
                          <a:latin typeface="Arial"/>
                          <a:ea typeface="Arial"/>
                          <a:cs typeface="Arial"/>
                        </a:rPr>
                        <a:t>Central</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2175" b="1">
                          <a:solidFill>
                            <a:srgbClr val="FFFFFF"/>
                          </a:solidFill>
                          <a:latin typeface="Arial"/>
                          <a:ea typeface="Arial"/>
                          <a:cs typeface="Arial"/>
                        </a:rPr>
                        <a:t>Optimista</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r>
              <a:tr h="542925">
                <a:tc>
                  <a:txBody>
                    <a:bodyPr lIns="133350" tIns="66675" rIns="133350" bIns="66675"/>
                    <a:lstStyle/>
                    <a:p>
                      <a:pPr algn="l"/>
                      <a:r>
                        <a:rPr sz="2175" b="0">
                          <a:solidFill>
                            <a:srgbClr val="142B40"/>
                          </a:solidFill>
                          <a:latin typeface="Arial"/>
                          <a:ea typeface="Arial"/>
                          <a:cs typeface="Arial"/>
                        </a:rPr>
                        <a:t>Coches vendidos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16.816</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21.393</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27.084</a:t>
                      </a:r>
                    </a:p>
                  </a:txBody>
                  <a:tcPr marL="91440" marR="91440" marT="45720" marB="45720" anchor="ctr">
                    <a:lnR w="0">
                      <a:solidFill>
                        <a:srgbClr val="FFFFFF"/>
                      </a:solidFill>
                    </a:lnR>
                    <a:lnB w="0">
                      <a:solidFill>
                        <a:srgbClr val="FFFFFF"/>
                      </a:solidFill>
                    </a:lnB>
                    <a:solidFill>
                      <a:srgbClr val="FFFFFF"/>
                    </a:solidFill>
                  </a:tcPr>
                </a:tc>
              </a:tr>
              <a:tr h="542925">
                <a:tc>
                  <a:txBody>
                    <a:bodyPr lIns="133350" tIns="66675" rIns="133350" bIns="66675"/>
                    <a:lstStyle/>
                    <a:p>
                      <a:pPr algn="l"/>
                      <a:r>
                        <a:rPr sz="2175" b="0">
                          <a:solidFill>
                            <a:srgbClr val="142B40"/>
                          </a:solidFill>
                          <a:latin typeface="Arial"/>
                          <a:ea typeface="Arial"/>
                          <a:cs typeface="Arial"/>
                        </a:rPr>
                        <a:t>Ventas, intervalo 5 %–95 %</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2175" b="0">
                          <a:solidFill>
                            <a:srgbClr val="142B40"/>
                          </a:solidFill>
                          <a:latin typeface="Arial"/>
                          <a:ea typeface="Arial"/>
                          <a:cs typeface="Arial"/>
                        </a:rPr>
                        <a:t>14.217–19.929</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175" b="0">
                          <a:solidFill>
                            <a:srgbClr val="142B40"/>
                          </a:solidFill>
                          <a:latin typeface="Arial"/>
                          <a:ea typeface="Arial"/>
                          <a:cs typeface="Arial"/>
                        </a:rPr>
                        <a:t>18.670–24.540</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175" b="0">
                          <a:solidFill>
                            <a:srgbClr val="142B40"/>
                          </a:solidFill>
                          <a:latin typeface="Arial"/>
                          <a:ea typeface="Arial"/>
                          <a:cs typeface="Arial"/>
                        </a:rPr>
                        <a:t>23.965–30.455</a:t>
                      </a:r>
                    </a:p>
                  </a:txBody>
                  <a:tcPr marL="91440" marR="91440" marT="45720" marB="45720" anchor="ctr">
                    <a:lnR w="0">
                      <a:solidFill>
                        <a:srgbClr val="FFFFFF"/>
                      </a:solidFill>
                    </a:lnR>
                    <a:lnB w="0">
                      <a:solidFill>
                        <a:srgbClr val="FFFFFF"/>
                      </a:solidFill>
                    </a:lnB>
                    <a:solidFill>
                      <a:srgbClr val="EFF4F6"/>
                    </a:solidFill>
                  </a:tcPr>
                </a:tc>
              </a:tr>
              <a:tr h="542925">
                <a:tc>
                  <a:txBody>
                    <a:bodyPr lIns="133350" tIns="66675" rIns="133350" bIns="66675"/>
                    <a:lstStyle/>
                    <a:p>
                      <a:pPr algn="l"/>
                      <a:r>
                        <a:rPr sz="2175" b="0">
                          <a:solidFill>
                            <a:srgbClr val="142B40"/>
                          </a:solidFill>
                          <a:latin typeface="Arial"/>
                          <a:ea typeface="Arial"/>
                          <a:cs typeface="Arial"/>
                        </a:rPr>
                        <a:t>Llegadas a la red</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15.127</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19.988</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25.608</a:t>
                      </a:r>
                    </a:p>
                  </a:txBody>
                  <a:tcPr marL="91440" marR="91440" marT="45720" marB="45720" anchor="ctr">
                    <a:lnR w="0">
                      <a:solidFill>
                        <a:srgbClr val="FFFFFF"/>
                      </a:solidFill>
                    </a:lnR>
                    <a:lnB w="0">
                      <a:solidFill>
                        <a:srgbClr val="FFFFFF"/>
                      </a:solidFill>
                    </a:lnB>
                    <a:solidFill>
                      <a:srgbClr val="FFFFFF"/>
                    </a:solidFill>
                  </a:tcPr>
                </a:tc>
              </a:tr>
              <a:tr h="542925">
                <a:tc>
                  <a:txBody>
                    <a:bodyPr lIns="133350" tIns="66675" rIns="133350" bIns="66675"/>
                    <a:lstStyle/>
                    <a:p>
                      <a:pPr algn="l"/>
                      <a:r>
                        <a:rPr sz="2175" b="0">
                          <a:solidFill>
                            <a:srgbClr val="142B40"/>
                          </a:solidFill>
                          <a:latin typeface="Arial"/>
                          <a:ea typeface="Arial"/>
                          <a:cs typeface="Arial"/>
                        </a:rPr>
                        <a:t>Stock medio, coches</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2175" b="0">
                          <a:solidFill>
                            <a:srgbClr val="142B40"/>
                          </a:solidFill>
                          <a:latin typeface="Arial"/>
                          <a:ea typeface="Arial"/>
                          <a:cs typeface="Arial"/>
                        </a:rPr>
                        <a:t>2.756</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175" b="0">
                          <a:solidFill>
                            <a:srgbClr val="142B40"/>
                          </a:solidFill>
                          <a:latin typeface="Arial"/>
                          <a:ea typeface="Arial"/>
                          <a:cs typeface="Arial"/>
                        </a:rPr>
                        <a:t>2.508</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175" b="0">
                          <a:solidFill>
                            <a:srgbClr val="142B40"/>
                          </a:solidFill>
                          <a:latin typeface="Arial"/>
                          <a:ea typeface="Arial"/>
                          <a:cs typeface="Arial"/>
                        </a:rPr>
                        <a:t>2.173</a:t>
                      </a:r>
                    </a:p>
                  </a:txBody>
                  <a:tcPr marL="91440" marR="91440" marT="45720" marB="45720" anchor="ctr">
                    <a:lnR w="0">
                      <a:solidFill>
                        <a:srgbClr val="FFFFFF"/>
                      </a:solidFill>
                    </a:lnR>
                    <a:lnB w="0">
                      <a:solidFill>
                        <a:srgbClr val="FFFFFF"/>
                      </a:solidFill>
                    </a:lnB>
                    <a:solidFill>
                      <a:srgbClr val="EFF4F6"/>
                    </a:solidFill>
                  </a:tcPr>
                </a:tc>
              </a:tr>
              <a:tr h="542925">
                <a:tc>
                  <a:txBody>
                    <a:bodyPr lIns="133350" tIns="66675" rIns="133350" bIns="66675"/>
                    <a:lstStyle/>
                    <a:p>
                      <a:pPr algn="l"/>
                      <a:r>
                        <a:rPr sz="2175" b="0">
                          <a:solidFill>
                            <a:srgbClr val="142B40"/>
                          </a:solidFill>
                          <a:latin typeface="Arial"/>
                          <a:ea typeface="Arial"/>
                          <a:cs typeface="Arial"/>
                        </a:rPr>
                        <a:t>Stock &gt;90 días al cierre</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175</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103</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66</a:t>
                      </a:r>
                    </a:p>
                  </a:txBody>
                  <a:tcPr marL="91440" marR="91440" marT="45720" marB="45720" anchor="ctr">
                    <a:lnR w="0">
                      <a:solidFill>
                        <a:srgbClr val="FFFFFF"/>
                      </a:solidFill>
                    </a:lnR>
                    <a:lnB w="0">
                      <a:solidFill>
                        <a:srgbClr val="FFFFFF"/>
                      </a:solidFill>
                    </a:lnB>
                    <a:solidFill>
                      <a:srgbClr val="FFFFFF"/>
                    </a:solidFill>
                  </a:tcPr>
                </a:tc>
              </a:tr>
              <a:tr h="542925">
                <a:tc>
                  <a:txBody>
                    <a:bodyPr lIns="133350" tIns="66675" rIns="133350" bIns="66675"/>
                    <a:lstStyle/>
                    <a:p>
                      <a:pPr algn="l"/>
                      <a:r>
                        <a:rPr sz="2175" b="0">
                          <a:solidFill>
                            <a:srgbClr val="142B40"/>
                          </a:solidFill>
                          <a:latin typeface="Arial"/>
                          <a:ea typeface="Arial"/>
                          <a:cs typeface="Arial"/>
                        </a:rPr>
                        <a:t>Coste del stock, M€</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2175" b="0">
                          <a:solidFill>
                            <a:srgbClr val="142B40"/>
                          </a:solidFill>
                          <a:latin typeface="Arial"/>
                          <a:ea typeface="Arial"/>
                          <a:cs typeface="Arial"/>
                        </a:rPr>
                        <a:t>2,4</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175" b="0">
                          <a:solidFill>
                            <a:srgbClr val="142B40"/>
                          </a:solidFill>
                          <a:latin typeface="Arial"/>
                          <a:ea typeface="Arial"/>
                          <a:cs typeface="Arial"/>
                        </a:rPr>
                        <a:t>2,4</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175" b="0">
                          <a:solidFill>
                            <a:srgbClr val="142B40"/>
                          </a:solidFill>
                          <a:latin typeface="Arial"/>
                          <a:ea typeface="Arial"/>
                          <a:cs typeface="Arial"/>
                        </a:rPr>
                        <a:t>2,3</a:t>
                      </a:r>
                    </a:p>
                  </a:txBody>
                  <a:tcPr marL="91440" marR="91440" marT="45720" marB="45720" anchor="ctr">
                    <a:lnR w="0">
                      <a:solidFill>
                        <a:srgbClr val="FFFFFF"/>
                      </a:solidFill>
                    </a:lnR>
                    <a:lnB w="0">
                      <a:solidFill>
                        <a:srgbClr val="FFFFFF"/>
                      </a:solidFill>
                    </a:lnB>
                    <a:solidFill>
                      <a:srgbClr val="EFF4F6"/>
                    </a:solidFill>
                  </a:tcPr>
                </a:tc>
              </a:tr>
              <a:tr h="542925">
                <a:tc>
                  <a:txBody>
                    <a:bodyPr lIns="133350" tIns="66675" rIns="133350" bIns="66675"/>
                    <a:lstStyle/>
                    <a:p>
                      <a:pPr algn="l"/>
                      <a:r>
                        <a:rPr sz="2175" b="0">
                          <a:solidFill>
                            <a:srgbClr val="142B40"/>
                          </a:solidFill>
                          <a:latin typeface="Arial"/>
                          <a:ea typeface="Arial"/>
                          <a:cs typeface="Arial"/>
                        </a:rPr>
                        <a:t>Gasto comercial VM, M€</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36,1</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45,2</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2175" b="0">
                          <a:solidFill>
                            <a:srgbClr val="142B40"/>
                          </a:solidFill>
                          <a:latin typeface="Arial"/>
                          <a:ea typeface="Arial"/>
                          <a:cs typeface="Arial"/>
                        </a:rPr>
                        <a:t>56,8</a:t>
                      </a:r>
                    </a:p>
                  </a:txBody>
                  <a:tcPr marL="91440" marR="91440" marT="45720" marB="45720" anchor="ctr">
                    <a:lnR w="0">
                      <a:solidFill>
                        <a:srgbClr val="FFFFFF"/>
                      </a:solidFill>
                    </a:lnR>
                    <a:lnB w="0">
                      <a:solidFill>
                        <a:srgbClr val="FFFFFF"/>
                      </a:solidFill>
                    </a:lnB>
                    <a:solidFill>
                      <a:srgbClr val="FFFFFF"/>
                    </a:solidFill>
                  </a:tcPr>
                </a:tc>
              </a:tr>
              <a:tr h="542925">
                <a:tc>
                  <a:txBody>
                    <a:bodyPr lIns="133350" tIns="66675" rIns="133350" bIns="66675"/>
                    <a:lstStyle/>
                    <a:p>
                      <a:pPr algn="l"/>
                      <a:r>
                        <a:rPr sz="2325" b="1">
                          <a:solidFill>
                            <a:srgbClr val="142B40"/>
                          </a:solidFill>
                          <a:latin typeface="Arial"/>
                          <a:ea typeface="Arial"/>
                          <a:cs typeface="Arial"/>
                        </a:rPr>
                        <a:t>Margen CVP, M€</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2325" b="1">
                          <a:solidFill>
                            <a:srgbClr val="AD3C3C"/>
                          </a:solidFill>
                          <a:latin typeface="Arial"/>
                          <a:ea typeface="Arial"/>
                          <a:cs typeface="Arial"/>
                        </a:rPr>
                        <a:t>−2,7</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325" b="1">
                          <a:solidFill>
                            <a:srgbClr val="142B40"/>
                          </a:solidFill>
                          <a:latin typeface="Arial"/>
                          <a:ea typeface="Arial"/>
                          <a:cs typeface="Arial"/>
                        </a:rPr>
                        <a:t>77,1</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2325" b="1">
                          <a:solidFill>
                            <a:srgbClr val="142B40"/>
                          </a:solidFill>
                          <a:latin typeface="Arial"/>
                          <a:ea typeface="Arial"/>
                          <a:cs typeface="Arial"/>
                        </a:rPr>
                        <a:t>98,6</a:t>
                      </a:r>
                    </a:p>
                  </a:txBody>
                  <a:tcPr marL="91440" marR="91440" marT="45720" marB="45720" anchor="ctr">
                    <a:lnR w="0">
                      <a:solidFill>
                        <a:srgbClr val="FFFFFF"/>
                      </a:solidFill>
                    </a:lnR>
                    <a:lnB w="0">
                      <a:solidFill>
                        <a:srgbClr val="FFFFFF"/>
                      </a:solidFill>
                    </a:lnB>
                    <a:solidFill>
                      <a:srgbClr val="EFF4F6"/>
                    </a:solidFill>
                  </a:tcPr>
                </a:tc>
              </a:tr>
            </a:tbl>
          </a:graphicData>
        </a:graphic>
      </p:graphicFrame>
      <p:sp>
        <p:nvSpPr>
          <p:cNvPr id="5" name="CVP antes del coste del stock. En el central: 413 venta">
            <a:extLst xmlns:a="http://schemas.openxmlformats.org/drawingml/2006/main">
              <a:ext uri="{FF2B5EF4-FFF2-40B4-BE49-F238E27FC236}">
                <a16:creationId xmlns:a16="http://schemas.microsoft.com/office/drawing/2014/main" id="{63A8DFCD-BE2E-409A-B20E-F39A2715C480}"/>
              </a:ext>
            </a:extLst>
          </p:cNvPr>
          <p:cNvSpPr>
            <a:spLocks xmlns:a="http://schemas.openxmlformats.org/drawingml/2006/main" noGrp="1"/>
          </p:cNvSpPr>
          <p:nvPr/>
        </p:nvSpPr>
        <p:spPr>
          <a:xfrm xmlns:a="http://schemas.openxmlformats.org/drawingml/2006/main">
            <a:off x="762000" y="7524750"/>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66775"/>
                </a:solidFill>
                <a:latin typeface="Arial"/>
                <a:ea typeface="Arial"/>
                <a:cs typeface="Arial"/>
              </a:defRPr>
            </a:defPPr>
          </a:lstStyle>
          <a:p xmlns:a="http://schemas.openxmlformats.org/drawingml/2006/main">
            <a:pPr algn="l">
              <a:defRPr sz="1875" b="0">
                <a:solidFill>
                  <a:srgbClr val="566775"/>
                </a:solidFill>
                <a:latin typeface="Arial"/>
                <a:ea typeface="Arial"/>
                <a:cs typeface="Arial"/>
              </a:defRPr>
            </a:pPr>
            <a:r>
              <a:rPr sz="1875" b="0">
                <a:solidFill>
                  <a:srgbClr val="566775"/>
                </a:solidFill>
                <a:latin typeface="Arial"/>
                <a:ea typeface="Arial"/>
                <a:cs typeface="Arial"/>
              </a:rPr>
              <a:t>CVP antes del coste del stock. En el central: 413 ventas perdidas y 307 transfers.</a:t>
            </a:r>
          </a:p>
          <a:p xmlns:a="http://schemas.openxmlformats.org/drawingml/2006/main">
            <a:pPr algn="l">
              <a:defRPr sz="1875" b="0">
                <a:solidFill>
                  <a:srgbClr val="566775"/>
                </a:solidFill>
                <a:latin typeface="Arial"/>
                <a:ea typeface="Arial"/>
                <a:cs typeface="Arial"/>
              </a:defRPr>
            </a:pPr>
            <a:r>
              <a:rPr sz="1875" b="0">
                <a:solidFill>
                  <a:srgbClr val="566775"/>
                </a:solidFill>
                <a:latin typeface="Arial"/>
                <a:ea typeface="Arial"/>
                <a:cs typeface="Arial"/>
              </a:rPr>
              <a:t>Stock medio equivalente a 1,9 / 1,4 / 0,9 meses de venta, respectivamente.</a:t>
            </a:r>
          </a:p>
        </p:txBody>
      </p:sp>
    </p:spTree>
    <p:extLst>
      <p:ext uri="{BB962C8B-B14F-4D97-AF65-F5344CB8AC3E}">
        <p14:creationId xmlns:p14="http://schemas.microsoft.com/office/powerpoint/2010/main" val="9339490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ioridades comerciales y riesgo de CO₂">
            <a:extLst xmlns:a="http://schemas.openxmlformats.org/drawingml/2006/main">
              <a:ext uri="{FF2B5EF4-FFF2-40B4-BE49-F238E27FC236}">
                <a16:creationId xmlns:a16="http://schemas.microsoft.com/office/drawing/2014/main" id="{354B13AA-2778-4CE6-A3D6-A03ED2317550}"/>
              </a:ext>
            </a:extLst>
          </p:cNvPr>
          <p:cNvSpPr>
            <a:spLocks xmlns:a="http://schemas.openxmlformats.org/drawingml/2006/main" noGrp="1"/>
          </p:cNvSpPr>
          <p:nvPr/>
        </p:nvSpPr>
        <p:spPr>
          <a:xfrm xmlns:a="http://schemas.openxmlformats.org/drawingml/2006/main">
            <a:off x="762000" y="552450"/>
            <a:ext cx="1371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142B40"/>
                </a:solidFill>
                <a:latin typeface="Arial"/>
                <a:ea typeface="Arial"/>
                <a:cs typeface="Arial"/>
              </a:defRPr>
            </a:defPPr>
          </a:lstStyle>
          <a:p xmlns:a="http://schemas.openxmlformats.org/drawingml/2006/main">
            <a:pPr algn="l">
              <a:defRPr sz="4200" b="1">
                <a:solidFill>
                  <a:srgbClr val="142B40"/>
                </a:solidFill>
                <a:latin typeface="Arial"/>
                <a:ea typeface="Arial"/>
                <a:cs typeface="Arial"/>
              </a:defRPr>
            </a:pPr>
            <a:r>
              <a:rPr sz="4200" b="1">
                <a:solidFill>
                  <a:srgbClr val="142B40"/>
                </a:solidFill>
                <a:latin typeface="Arial"/>
                <a:ea typeface="Arial"/>
                <a:cs typeface="Arial"/>
              </a:rPr>
              <a:t>Prioridades comerciales y riesgo de CO₂</a:t>
            </a:r>
          </a:p>
        </p:txBody>
      </p:sp>
      <p:sp>
        <p:nvSpPr>
          <p:cNvPr id="2" name="Rentabilidad por coche y señales para revisar el plan">
            <a:extLst xmlns:a="http://schemas.openxmlformats.org/drawingml/2006/main">
              <a:ext uri="{FF2B5EF4-FFF2-40B4-BE49-F238E27FC236}">
                <a16:creationId xmlns:a16="http://schemas.microsoft.com/office/drawing/2014/main" id="{E60B2509-0F99-4E29-889E-8E04890A7B5B}"/>
              </a:ext>
            </a:extLst>
          </p:cNvPr>
          <p:cNvSpPr>
            <a:spLocks xmlns:a="http://schemas.openxmlformats.org/drawingml/2006/main" noGrp="1"/>
          </p:cNvSpPr>
          <p:nvPr/>
        </p:nvSpPr>
        <p:spPr>
          <a:xfrm xmlns:a="http://schemas.openxmlformats.org/drawingml/2006/main">
            <a:off x="762000" y="1438275"/>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66775"/>
                </a:solidFill>
                <a:latin typeface="Arial"/>
                <a:ea typeface="Arial"/>
                <a:cs typeface="Arial"/>
              </a:defRPr>
            </a:defPPr>
          </a:lstStyle>
          <a:p xmlns:a="http://schemas.openxmlformats.org/drawingml/2006/main">
            <a:pPr algn="l">
              <a:defRPr sz="2100" b="0">
                <a:solidFill>
                  <a:srgbClr val="566775"/>
                </a:solidFill>
                <a:latin typeface="Arial"/>
                <a:ea typeface="Arial"/>
                <a:cs typeface="Arial"/>
              </a:defRPr>
            </a:pPr>
            <a:r>
              <a:rPr sz="2100" b="0">
                <a:solidFill>
                  <a:srgbClr val="566775"/>
                </a:solidFill>
                <a:latin typeface="Arial"/>
                <a:ea typeface="Arial"/>
                <a:cs typeface="Arial"/>
              </a:rPr>
              <a:t>Rentabilidad por coche y señales para revisar el plan</a:t>
            </a:r>
          </a:p>
        </p:txBody>
      </p:sp>
      <p:sp>
        <p:nvSpPr>
          <p:cNvPr id="3" name="5 / 5">
            <a:extLst xmlns:a="http://schemas.openxmlformats.org/drawingml/2006/main">
              <a:ext uri="{FF2B5EF4-FFF2-40B4-BE49-F238E27FC236}">
                <a16:creationId xmlns:a16="http://schemas.microsoft.com/office/drawing/2014/main" id="{B443CBC4-2322-40AB-8F0A-64AE6F280E2E}"/>
              </a:ext>
            </a:extLst>
          </p:cNvPr>
          <p:cNvSpPr>
            <a:spLocks xmlns:a="http://schemas.openxmlformats.org/drawingml/2006/main" noGrp="1"/>
          </p:cNvSpPr>
          <p:nvPr/>
        </p:nvSpPr>
        <p:spPr>
          <a:xfrm xmlns:a="http://schemas.openxmlformats.org/drawingml/2006/main">
            <a:off x="13763625" y="806767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500" b="0">
                <a:solidFill>
                  <a:srgbClr val="566775"/>
                </a:solidFill>
                <a:latin typeface="Arial"/>
                <a:ea typeface="Arial"/>
                <a:cs typeface="Arial"/>
              </a:defRPr>
            </a:defPPr>
          </a:lstStyle>
          <a:p xmlns:a="http://schemas.openxmlformats.org/drawingml/2006/main">
            <a:pPr algn="r">
              <a:defRPr sz="1500" b="0">
                <a:solidFill>
                  <a:srgbClr val="566775"/>
                </a:solidFill>
                <a:latin typeface="Arial"/>
                <a:ea typeface="Arial"/>
                <a:cs typeface="Arial"/>
              </a:defRPr>
            </a:pPr>
            <a:r>
              <a:rPr sz="1500" b="0">
                <a:solidFill>
                  <a:srgbClr val="566775"/>
                </a:solidFill>
                <a:latin typeface="Arial"/>
                <a:ea typeface="Arial"/>
                <a:cs typeface="Arial"/>
              </a:rPr>
              <a:t>5 / 5</a:t>
            </a:r>
          </a:p>
        </p:txBody>
      </p:sp>
      <p:graphicFrame>
        <p:nvGraphicFramePr>
          <p:cNvPr id="4" name="">
            <a:extLst xmlns:a="http://schemas.openxmlformats.org/drawingml/2006/main">
              <a:ext uri="{FF2B5EF4-FFF2-40B4-BE49-F238E27FC236}">
                <a16:creationId xmlns:a16="http://schemas.microsoft.com/office/drawing/2014/main" id="{FE147876-B08D-4996-A4E1-DAD38BDA59C9}"/>
              </a:ext>
            </a:extLst>
          </p:cNvPr>
          <p:cNvGraphicFramePr/>
          <p:nvPr/>
        </p:nvGraphicFramePr>
        <p:xfrm>
          <a:off xmlns:a="http://schemas.openxmlformats.org/drawingml/2006/main" x="762000" y="2324100"/>
          <a:ext xmlns:a="http://schemas.openxmlformats.org/drawingml/2006/main" cx="9096375" cy="4438650"/>
        </p:xfrm>
        <a:graphic xmlns:a="http://schemas.openxmlformats.org/drawingml/2006/main">
          <a:graphicData uri="http://schemas.openxmlformats.org/drawingml/2006/table">
            <a:tbl>
              <a:tblPr firstRow="0" bandRow="0"/>
              <a:tblGrid>
                <a:gridCol w="2714625"/>
                <a:gridCol w="1666875"/>
                <a:gridCol w="1666875"/>
                <a:gridCol w="3048000"/>
              </a:tblGrid>
              <a:tr h="554831">
                <a:tc>
                  <a:txBody>
                    <a:bodyPr lIns="133350" tIns="66675" rIns="133350" bIns="66675"/>
                    <a:lstStyle/>
                    <a:p>
                      <a:pPr algn="l"/>
                      <a:r>
                        <a:rPr sz="1950" b="1">
                          <a:solidFill>
                            <a:srgbClr val="FFFFFF"/>
                          </a:solidFill>
                          <a:latin typeface="Arial"/>
                          <a:ea typeface="Arial"/>
                          <a:cs typeface="Arial"/>
                        </a:rPr>
                        <a:t>Segmento</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1950" b="1">
                          <a:solidFill>
                            <a:srgbClr val="FFFFFF"/>
                          </a:solidFill>
                          <a:latin typeface="Arial"/>
                          <a:ea typeface="Arial"/>
                          <a:cs typeface="Arial"/>
                        </a:rPr>
                        <a:t>CVP/coche</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1950" b="1">
                          <a:solidFill>
                            <a:srgbClr val="FFFFFF"/>
                          </a:solidFill>
                          <a:latin typeface="Arial"/>
                          <a:ea typeface="Arial"/>
                          <a:cs typeface="Arial"/>
                        </a:rPr>
                        <a:t>Con CO₂</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c>
                  <a:txBody>
                    <a:bodyPr lIns="133350" tIns="66675" rIns="133350" bIns="66675"/>
                    <a:lstStyle/>
                    <a:p>
                      <a:pPr algn="r"/>
                      <a:r>
                        <a:rPr sz="1950" b="1">
                          <a:solidFill>
                            <a:srgbClr val="FFFFFF"/>
                          </a:solidFill>
                          <a:latin typeface="Arial"/>
                          <a:ea typeface="Arial"/>
                          <a:cs typeface="Arial"/>
                        </a:rPr>
                        <a:t>Prioridad</a:t>
                      </a:r>
                    </a:p>
                  </a:txBody>
                  <a:tcPr marL="91440" marR="91440" marT="45720" marB="45720" anchor="ctr">
                    <a:lnR w="0">
                      <a:solidFill>
                        <a:srgbClr val="FFFFFF"/>
                      </a:solidFill>
                    </a:lnR>
                    <a:lnT w="0">
                      <a:solidFill>
                        <a:srgbClr val="FFFFFF"/>
                      </a:solidFill>
                    </a:lnT>
                    <a:lnB w="0">
                      <a:solidFill>
                        <a:srgbClr val="FFFFFF"/>
                      </a:solidFill>
                    </a:lnB>
                    <a:solidFill>
                      <a:srgbClr val="142B40"/>
                    </a:solidFill>
                  </a:tcPr>
                </a:tc>
              </a:tr>
              <a:tr h="554831">
                <a:tc>
                  <a:txBody>
                    <a:bodyPr lIns="133350" tIns="66675" rIns="133350" bIns="66675"/>
                    <a:lstStyle/>
                    <a:p>
                      <a:pPr algn="l"/>
                      <a:r>
                        <a:rPr sz="1950" b="0">
                          <a:solidFill>
                            <a:srgbClr val="142B40"/>
                          </a:solidFill>
                          <a:latin typeface="Arial"/>
                          <a:ea typeface="Arial"/>
                          <a:cs typeface="Arial"/>
                        </a:rPr>
                        <a:t>SUV medio</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5.714 €</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1.511 €</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Impulsar</a:t>
                      </a:r>
                    </a:p>
                  </a:txBody>
                  <a:tcPr marL="91440" marR="91440" marT="45720" marB="45720" anchor="ctr">
                    <a:lnR w="0">
                      <a:solidFill>
                        <a:srgbClr val="FFFFFF"/>
                      </a:solidFill>
                    </a:lnR>
                    <a:lnB w="0">
                      <a:solidFill>
                        <a:srgbClr val="FFFFFF"/>
                      </a:solidFill>
                    </a:lnB>
                    <a:solidFill>
                      <a:srgbClr val="FFFFFF"/>
                    </a:solidFill>
                  </a:tcPr>
                </a:tc>
              </a:tr>
              <a:tr h="554831">
                <a:tc>
                  <a:txBody>
                    <a:bodyPr lIns="133350" tIns="66675" rIns="133350" bIns="66675"/>
                    <a:lstStyle/>
                    <a:p>
                      <a:pPr algn="l"/>
                      <a:r>
                        <a:rPr sz="1950" b="0">
                          <a:solidFill>
                            <a:srgbClr val="142B40"/>
                          </a:solidFill>
                          <a:latin typeface="Arial"/>
                          <a:ea typeface="Arial"/>
                          <a:cs typeface="Arial"/>
                        </a:rPr>
                        <a:t>SUV compacto</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3.798 €</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1.886 €</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Vender stock y crecer</a:t>
                      </a:r>
                    </a:p>
                  </a:txBody>
                  <a:tcPr marL="91440" marR="91440" marT="45720" marB="45720" anchor="ctr">
                    <a:lnR w="0">
                      <a:solidFill>
                        <a:srgbClr val="FFFFFF"/>
                      </a:solidFill>
                    </a:lnR>
                    <a:lnB w="0">
                      <a:solidFill>
                        <a:srgbClr val="FFFFFF"/>
                      </a:solidFill>
                    </a:lnB>
                    <a:solidFill>
                      <a:srgbClr val="EFF4F6"/>
                    </a:solidFill>
                  </a:tcPr>
                </a:tc>
              </a:tr>
              <a:tr h="554831">
                <a:tc>
                  <a:txBody>
                    <a:bodyPr lIns="133350" tIns="66675" rIns="133350" bIns="66675"/>
                    <a:lstStyle/>
                    <a:p>
                      <a:pPr algn="l"/>
                      <a:r>
                        <a:rPr sz="1950" b="0">
                          <a:solidFill>
                            <a:srgbClr val="142B40"/>
                          </a:solidFill>
                          <a:latin typeface="Arial"/>
                          <a:ea typeface="Arial"/>
                          <a:cs typeface="Arial"/>
                        </a:rPr>
                        <a:t>Berlina media</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3.760 €</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1.678 €</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Mantener</a:t>
                      </a:r>
                    </a:p>
                  </a:txBody>
                  <a:tcPr marL="91440" marR="91440" marT="45720" marB="45720" anchor="ctr">
                    <a:lnR w="0">
                      <a:solidFill>
                        <a:srgbClr val="FFFFFF"/>
                      </a:solidFill>
                    </a:lnR>
                    <a:lnB w="0">
                      <a:solidFill>
                        <a:srgbClr val="FFFFFF"/>
                      </a:solidFill>
                    </a:lnB>
                    <a:solidFill>
                      <a:srgbClr val="FFFFFF"/>
                    </a:solidFill>
                  </a:tcPr>
                </a:tc>
              </a:tr>
              <a:tr h="554831">
                <a:tc>
                  <a:txBody>
                    <a:bodyPr lIns="133350" tIns="66675" rIns="133350" bIns="66675"/>
                    <a:lstStyle/>
                    <a:p>
                      <a:pPr algn="l"/>
                      <a:r>
                        <a:rPr sz="1950" b="0">
                          <a:solidFill>
                            <a:srgbClr val="142B40"/>
                          </a:solidFill>
                          <a:latin typeface="Arial"/>
                          <a:ea typeface="Arial"/>
                          <a:cs typeface="Arial"/>
                        </a:rPr>
                        <a:t>SUV pequeño</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2.568 €</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−262 €</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Vigilar prima</a:t>
                      </a:r>
                    </a:p>
                  </a:txBody>
                  <a:tcPr marL="91440" marR="91440" marT="45720" marB="45720" anchor="ctr">
                    <a:lnR w="0">
                      <a:solidFill>
                        <a:srgbClr val="FFFFFF"/>
                      </a:solidFill>
                    </a:lnR>
                    <a:lnB w="0">
                      <a:solidFill>
                        <a:srgbClr val="FFFFFF"/>
                      </a:solidFill>
                    </a:lnB>
                    <a:solidFill>
                      <a:srgbClr val="EFF4F6"/>
                    </a:solidFill>
                  </a:tcPr>
                </a:tc>
              </a:tr>
              <a:tr h="554831">
                <a:tc>
                  <a:txBody>
                    <a:bodyPr lIns="133350" tIns="66675" rIns="133350" bIns="66675"/>
                    <a:lstStyle/>
                    <a:p>
                      <a:pPr algn="l"/>
                      <a:r>
                        <a:rPr sz="1950" b="0">
                          <a:solidFill>
                            <a:srgbClr val="142B40"/>
                          </a:solidFill>
                          <a:latin typeface="Arial"/>
                          <a:ea typeface="Arial"/>
                          <a:cs typeface="Arial"/>
                        </a:rPr>
                        <a:t>Compacto</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1.187 €</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−765 €</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Contener</a:t>
                      </a:r>
                    </a:p>
                  </a:txBody>
                  <a:tcPr marL="91440" marR="91440" marT="45720" marB="45720" anchor="ctr">
                    <a:lnR w="0">
                      <a:solidFill>
                        <a:srgbClr val="FFFFFF"/>
                      </a:solidFill>
                    </a:lnR>
                    <a:lnB w="0">
                      <a:solidFill>
                        <a:srgbClr val="FFFFFF"/>
                      </a:solidFill>
                    </a:lnB>
                    <a:solidFill>
                      <a:srgbClr val="FFFFFF"/>
                    </a:solidFill>
                  </a:tcPr>
                </a:tc>
              </a:tr>
              <a:tr h="554831">
                <a:tc>
                  <a:txBody>
                    <a:bodyPr lIns="133350" tIns="66675" rIns="133350" bIns="66675"/>
                    <a:lstStyle/>
                    <a:p>
                      <a:pPr algn="l"/>
                      <a:r>
                        <a:rPr sz="1950" b="0">
                          <a:solidFill>
                            <a:srgbClr val="142B40"/>
                          </a:solidFill>
                          <a:latin typeface="Arial"/>
                          <a:ea typeface="Arial"/>
                          <a:cs typeface="Arial"/>
                        </a:rPr>
                        <a:t>Pequeño</a:t>
                      </a:r>
                    </a:p>
                  </a:txBody>
                  <a:tcPr marL="91440" marR="91440" marT="45720" marB="45720" anchor="ctr">
                    <a:lnL w="0">
                      <a:solidFill>
                        <a:srgbClr val="FFFFFF"/>
                      </a:solidFill>
                    </a:lnL>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−69 €</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−2.624 €</a:t>
                      </a:r>
                    </a:p>
                  </a:txBody>
                  <a:tcPr marL="91440" marR="91440" marT="45720" marB="45720" anchor="ctr">
                    <a:lnR w="0">
                      <a:solidFill>
                        <a:srgbClr val="FFFFFF"/>
                      </a:solidFill>
                    </a:lnR>
                    <a:lnB w="0">
                      <a:solidFill>
                        <a:srgbClr val="FFFFFF"/>
                      </a:solidFill>
                    </a:lnB>
                    <a:solidFill>
                      <a:srgbClr val="EFF4F6"/>
                    </a:solidFill>
                  </a:tcPr>
                </a:tc>
                <a:tc>
                  <a:txBody>
                    <a:bodyPr lIns="133350" tIns="66675" rIns="133350" bIns="66675"/>
                    <a:lstStyle/>
                    <a:p>
                      <a:pPr algn="r"/>
                      <a:r>
                        <a:rPr sz="1950" b="0">
                          <a:solidFill>
                            <a:srgbClr val="142B40"/>
                          </a:solidFill>
                          <a:latin typeface="Arial"/>
                          <a:ea typeface="Arial"/>
                          <a:cs typeface="Arial"/>
                        </a:rPr>
                        <a:t>Contener</a:t>
                      </a:r>
                    </a:p>
                  </a:txBody>
                  <a:tcPr marL="91440" marR="91440" marT="45720" marB="45720" anchor="ctr">
                    <a:lnR w="0">
                      <a:solidFill>
                        <a:srgbClr val="FFFFFF"/>
                      </a:solidFill>
                    </a:lnR>
                    <a:lnB w="0">
                      <a:solidFill>
                        <a:srgbClr val="FFFFFF"/>
                      </a:solidFill>
                    </a:lnB>
                    <a:solidFill>
                      <a:srgbClr val="EFF4F6"/>
                    </a:solidFill>
                  </a:tcPr>
                </a:tc>
              </a:tr>
              <a:tr h="554831">
                <a:tc>
                  <a:txBody>
                    <a:bodyPr lIns="133350" tIns="66675" rIns="133350" bIns="66675"/>
                    <a:lstStyle/>
                    <a:p>
                      <a:pPr algn="l"/>
                      <a:r>
                        <a:rPr sz="1950" b="0">
                          <a:solidFill>
                            <a:srgbClr val="142B40"/>
                          </a:solidFill>
                          <a:latin typeface="Arial"/>
                          <a:ea typeface="Arial"/>
                          <a:cs typeface="Arial"/>
                        </a:rPr>
                        <a:t>Descapotable</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4.631 €</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138 €</a:t>
                      </a:r>
                    </a:p>
                  </a:txBody>
                  <a:tcPr marL="91440" marR="91440" marT="45720" marB="45720" anchor="ctr">
                    <a:lnR w="0">
                      <a:solidFill>
                        <a:srgbClr val="FFFFFF"/>
                      </a:solidFill>
                    </a:lnR>
                    <a:lnB w="0">
                      <a:solidFill>
                        <a:srgbClr val="FFFFFF"/>
                      </a:solidFill>
                    </a:lnB>
                    <a:solidFill>
                      <a:srgbClr val="FFFFFF"/>
                    </a:solidFill>
                  </a:tcPr>
                </a:tc>
                <a:tc>
                  <a:txBody>
                    <a:bodyPr lIns="133350" tIns="66675" rIns="133350" bIns="66675"/>
                    <a:lstStyle/>
                    <a:p>
                      <a:pPr algn="r"/>
                      <a:r>
                        <a:rPr sz="1950" b="0">
                          <a:solidFill>
                            <a:srgbClr val="142B40"/>
                          </a:solidFill>
                          <a:latin typeface="Arial"/>
                          <a:ea typeface="Arial"/>
                          <a:cs typeface="Arial"/>
                        </a:rPr>
                        <a:t>Reducir stock viejo</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5" name="≈50 M€">
            <a:extLst xmlns:a="http://schemas.openxmlformats.org/drawingml/2006/main">
              <a:ext uri="{FF2B5EF4-FFF2-40B4-BE49-F238E27FC236}">
                <a16:creationId xmlns:a16="http://schemas.microsoft.com/office/drawing/2014/main" id="{1EEA00B8-2E8D-4048-848D-AA20D2FC19B0}"/>
              </a:ext>
            </a:extLst>
          </p:cNvPr>
          <p:cNvSpPr>
            <a:spLocks xmlns:a="http://schemas.openxmlformats.org/drawingml/2006/main" noGrp="1"/>
          </p:cNvSpPr>
          <p:nvPr/>
        </p:nvSpPr>
        <p:spPr>
          <a:xfrm xmlns:a="http://schemas.openxmlformats.org/drawingml/2006/main">
            <a:off x="10477500" y="2362200"/>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300" b="1">
                <a:solidFill>
                  <a:srgbClr val="AD3C3C"/>
                </a:solidFill>
                <a:latin typeface="Arial"/>
                <a:ea typeface="Arial"/>
                <a:cs typeface="Arial"/>
              </a:defRPr>
            </a:defPPr>
          </a:lstStyle>
          <a:p xmlns:a="http://schemas.openxmlformats.org/drawingml/2006/main">
            <a:pPr algn="l">
              <a:defRPr sz="6300" b="1">
                <a:solidFill>
                  <a:srgbClr val="AD3C3C"/>
                </a:solidFill>
                <a:latin typeface="Arial"/>
                <a:ea typeface="Arial"/>
                <a:cs typeface="Arial"/>
              </a:defRPr>
            </a:pPr>
            <a:r>
              <a:rPr sz="6300" b="1">
                <a:solidFill>
                  <a:srgbClr val="AD3C3C"/>
                </a:solidFill>
                <a:latin typeface="Arial"/>
                <a:ea typeface="Arial"/>
                <a:cs typeface="Arial"/>
              </a:rPr>
              <a:t>≈50 M€</a:t>
            </a:r>
          </a:p>
        </p:txBody>
      </p:sp>
      <p:sp>
        <p:nvSpPr>
          <p:cNvPr id="6" name="Impacto de la prima de CO₂&#10;en el escenario pesimista">
            <a:extLst xmlns:a="http://schemas.openxmlformats.org/drawingml/2006/main">
              <a:ext uri="{FF2B5EF4-FFF2-40B4-BE49-F238E27FC236}">
                <a16:creationId xmlns:a16="http://schemas.microsoft.com/office/drawing/2014/main" id="{4F0F4865-6100-440C-84B6-813A9B3F362E}"/>
              </a:ext>
            </a:extLst>
          </p:cNvPr>
          <p:cNvSpPr>
            <a:spLocks xmlns:a="http://schemas.openxmlformats.org/drawingml/2006/main" noGrp="1"/>
          </p:cNvSpPr>
          <p:nvPr/>
        </p:nvSpPr>
        <p:spPr>
          <a:xfrm xmlns:a="http://schemas.openxmlformats.org/drawingml/2006/main">
            <a:off x="10477500" y="34575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42B40"/>
                </a:solidFill>
                <a:latin typeface="Arial"/>
                <a:ea typeface="Arial"/>
                <a:cs typeface="Arial"/>
              </a:defRPr>
            </a:defPPr>
          </a:lstStyle>
          <a:p xmlns:a="http://schemas.openxmlformats.org/drawingml/2006/main">
            <a:pPr algn="l">
              <a:defRPr sz="2250" b="1">
                <a:solidFill>
                  <a:srgbClr val="142B40"/>
                </a:solidFill>
                <a:latin typeface="Arial"/>
                <a:ea typeface="Arial"/>
                <a:cs typeface="Arial"/>
              </a:defRPr>
            </a:pPr>
            <a:r>
              <a:rPr sz="2250" b="1">
                <a:solidFill>
                  <a:srgbClr val="142B40"/>
                </a:solidFill>
                <a:latin typeface="Arial"/>
                <a:ea typeface="Arial"/>
                <a:cs typeface="Arial"/>
              </a:rPr>
              <a:t>Impacto de la prima de CO₂</a:t>
            </a:r>
          </a:p>
          <a:p xmlns:a="http://schemas.openxmlformats.org/drawingml/2006/main">
            <a:pPr algn="l">
              <a:defRPr sz="2250" b="1">
                <a:solidFill>
                  <a:srgbClr val="142B40"/>
                </a:solidFill>
                <a:latin typeface="Arial"/>
                <a:ea typeface="Arial"/>
                <a:cs typeface="Arial"/>
              </a:defRPr>
            </a:pPr>
            <a:r>
              <a:rPr sz="2250" b="1">
                <a:solidFill>
                  <a:srgbClr val="142B40"/>
                </a:solidFill>
                <a:latin typeface="Arial"/>
                <a:ea typeface="Arial"/>
                <a:cs typeface="Arial"/>
              </a:rPr>
              <a:t>en el escenario pesimista</a:t>
            </a:r>
          </a:p>
        </p:txBody>
      </p:sp>
      <p:sp>
        <p:nvSpPr>
          <p:cNvPr id="7" name="Revisión mensual">
            <a:extLst xmlns:a="http://schemas.openxmlformats.org/drawingml/2006/main">
              <a:ext uri="{FF2B5EF4-FFF2-40B4-BE49-F238E27FC236}">
                <a16:creationId xmlns:a16="http://schemas.microsoft.com/office/drawing/2014/main" id="{3BC00F20-8EEB-4B03-951E-B65C8565DBBF}"/>
              </a:ext>
            </a:extLst>
          </p:cNvPr>
          <p:cNvSpPr>
            <a:spLocks xmlns:a="http://schemas.openxmlformats.org/drawingml/2006/main" noGrp="1"/>
          </p:cNvSpPr>
          <p:nvPr/>
        </p:nvSpPr>
        <p:spPr>
          <a:xfrm xmlns:a="http://schemas.openxmlformats.org/drawingml/2006/main">
            <a:off x="10477500" y="4724400"/>
            <a:ext cx="400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142B40"/>
                </a:solidFill>
                <a:latin typeface="Arial"/>
                <a:ea typeface="Arial"/>
                <a:cs typeface="Arial"/>
              </a:defRPr>
            </a:defPPr>
          </a:lstStyle>
          <a:p xmlns:a="http://schemas.openxmlformats.org/drawingml/2006/main">
            <a:pPr algn="l">
              <a:defRPr sz="2400" b="1">
                <a:solidFill>
                  <a:srgbClr val="142B40"/>
                </a:solidFill>
                <a:latin typeface="Arial"/>
                <a:ea typeface="Arial"/>
                <a:cs typeface="Arial"/>
              </a:defRPr>
            </a:pPr>
            <a:r>
              <a:rPr sz="2400" b="1">
                <a:solidFill>
                  <a:srgbClr val="142B40"/>
                </a:solidFill>
                <a:latin typeface="Arial"/>
                <a:ea typeface="Arial"/>
                <a:cs typeface="Arial"/>
              </a:rPr>
              <a:t>Revisión mensual</a:t>
            </a:r>
          </a:p>
        </p:txBody>
      </p:sp>
      <p:sp>
        <p:nvSpPr>
          <p:cNvPr id="8" name="Ventas: desviación &gt;15 %&#10;durante dos meses.&#10;&#10;Stock &gt;2 m">
            <a:extLst xmlns:a="http://schemas.openxmlformats.org/drawingml/2006/main">
              <a:ext uri="{FF2B5EF4-FFF2-40B4-BE49-F238E27FC236}">
                <a16:creationId xmlns:a16="http://schemas.microsoft.com/office/drawing/2014/main" id="{66D9FE73-C78E-463A-966D-799325BD7B1E}"/>
              </a:ext>
            </a:extLst>
          </p:cNvPr>
          <p:cNvSpPr>
            <a:spLocks xmlns:a="http://schemas.openxmlformats.org/drawingml/2006/main" noGrp="1"/>
          </p:cNvSpPr>
          <p:nvPr/>
        </p:nvSpPr>
        <p:spPr>
          <a:xfrm xmlns:a="http://schemas.openxmlformats.org/drawingml/2006/main">
            <a:off x="10477500" y="5305425"/>
            <a:ext cx="4000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566775"/>
                </a:solidFill>
                <a:latin typeface="Arial"/>
                <a:ea typeface="Arial"/>
                <a:cs typeface="Arial"/>
              </a:defRPr>
            </a:defPPr>
          </a:lstStyle>
          <a:p xmlns:a="http://schemas.openxmlformats.org/drawingml/2006/main">
            <a:pPr algn="l">
              <a:defRPr sz="2025" b="0">
                <a:solidFill>
                  <a:srgbClr val="566775"/>
                </a:solidFill>
                <a:latin typeface="Arial"/>
                <a:ea typeface="Arial"/>
                <a:cs typeface="Arial"/>
              </a:defRPr>
            </a:pPr>
            <a:r>
              <a:rPr sz="2025" b="0">
                <a:solidFill>
                  <a:srgbClr val="566775"/>
                </a:solidFill>
                <a:latin typeface="Arial"/>
                <a:ea typeface="Arial"/>
                <a:cs typeface="Arial"/>
              </a:rPr>
              <a:t>Ventas: desviación &gt;15 %</a:t>
            </a:r>
          </a:p>
          <a:p xmlns:a="http://schemas.openxmlformats.org/drawingml/2006/main">
            <a:pPr algn="l">
              <a:defRPr sz="2025" b="0">
                <a:solidFill>
                  <a:srgbClr val="566775"/>
                </a:solidFill>
                <a:latin typeface="Arial"/>
                <a:ea typeface="Arial"/>
                <a:cs typeface="Arial"/>
              </a:defRPr>
            </a:pPr>
            <a:r>
              <a:rPr sz="2025" b="0">
                <a:solidFill>
                  <a:srgbClr val="566775"/>
                </a:solidFill>
                <a:latin typeface="Arial"/>
                <a:ea typeface="Arial"/>
                <a:cs typeface="Arial"/>
              </a:rPr>
              <a:t>durante dos meses.</a:t>
            </a:r>
          </a:p>
          <a:p xmlns:a="http://schemas.openxmlformats.org/drawingml/2006/main">
            <a:r>
              <a:t/>
            </a:r>
          </a:p>
          <a:p xmlns:a="http://schemas.openxmlformats.org/drawingml/2006/main">
            <a:pPr algn="l">
              <a:defRPr sz="2025" b="0">
                <a:solidFill>
                  <a:srgbClr val="566775"/>
                </a:solidFill>
                <a:latin typeface="Arial"/>
                <a:ea typeface="Arial"/>
                <a:cs typeface="Arial"/>
              </a:defRPr>
            </a:pPr>
            <a:r>
              <a:rPr sz="2025" b="0">
                <a:solidFill>
                  <a:srgbClr val="566775"/>
                </a:solidFill>
                <a:latin typeface="Arial"/>
                <a:ea typeface="Arial"/>
                <a:cs typeface="Arial"/>
              </a:rPr>
              <a:t>Stock &gt;2 meses: frenar.</a:t>
            </a:r>
          </a:p>
          <a:p xmlns:a="http://schemas.openxmlformats.org/drawingml/2006/main">
            <a:pPr algn="l">
              <a:defRPr sz="2025" b="0">
                <a:solidFill>
                  <a:srgbClr val="566775"/>
                </a:solidFill>
                <a:latin typeface="Arial"/>
                <a:ea typeface="Arial"/>
                <a:cs typeface="Arial"/>
              </a:defRPr>
            </a:pPr>
            <a:r>
              <a:rPr sz="2025" b="0">
                <a:solidFill>
                  <a:srgbClr val="566775"/>
                </a:solidFill>
                <a:latin typeface="Arial"/>
                <a:ea typeface="Arial"/>
                <a:cs typeface="Arial"/>
              </a:rPr>
              <a:t>Stock &lt;0,5 meses: valorar</a:t>
            </a:r>
          </a:p>
          <a:p xmlns:a="http://schemas.openxmlformats.org/drawingml/2006/main">
            <a:pPr algn="l">
              <a:defRPr sz="2025" b="0">
                <a:solidFill>
                  <a:srgbClr val="566775"/>
                </a:solidFill>
                <a:latin typeface="Arial"/>
                <a:ea typeface="Arial"/>
                <a:cs typeface="Arial"/>
              </a:defRPr>
            </a:pPr>
            <a:r>
              <a:rPr sz="2025" b="0">
                <a:solidFill>
                  <a:srgbClr val="566775"/>
                </a:solidFill>
                <a:latin typeface="Arial"/>
                <a:ea typeface="Arial"/>
                <a:cs typeface="Arial"/>
              </a:rPr>
              <a:t>transfers.</a:t>
            </a:r>
          </a:p>
        </p:txBody>
      </p:sp>
      <p:sp>
        <p:nvSpPr>
          <p:cNvPr id="9" name="SUV medio: perder una venta supone 5.714 € de CVP.&#10;Mant">
            <a:extLst xmlns:a="http://schemas.openxmlformats.org/drawingml/2006/main">
              <a:ext uri="{FF2B5EF4-FFF2-40B4-BE49-F238E27FC236}">
                <a16:creationId xmlns:a16="http://schemas.microsoft.com/office/drawing/2014/main" id="{E506DEE3-1D15-40BE-BB2C-84F25016FD4D}"/>
              </a:ext>
            </a:extLst>
          </p:cNvPr>
          <p:cNvSpPr>
            <a:spLocks xmlns:a="http://schemas.openxmlformats.org/drawingml/2006/main" noGrp="1"/>
          </p:cNvSpPr>
          <p:nvPr/>
        </p:nvSpPr>
        <p:spPr>
          <a:xfrm xmlns:a="http://schemas.openxmlformats.org/drawingml/2006/main">
            <a:off x="762000" y="7267575"/>
            <a:ext cx="9239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66775"/>
                </a:solidFill>
                <a:latin typeface="Arial"/>
                <a:ea typeface="Arial"/>
                <a:cs typeface="Arial"/>
              </a:defRPr>
            </a:defPPr>
          </a:lstStyle>
          <a:p xmlns:a="http://schemas.openxmlformats.org/drawingml/2006/main">
            <a:pPr algn="l">
              <a:defRPr sz="2100" b="0">
                <a:solidFill>
                  <a:srgbClr val="566775"/>
                </a:solidFill>
                <a:latin typeface="Arial"/>
                <a:ea typeface="Arial"/>
                <a:cs typeface="Arial"/>
              </a:defRPr>
            </a:pPr>
            <a:r>
              <a:rPr sz="2100" b="0">
                <a:solidFill>
                  <a:srgbClr val="566775"/>
                </a:solidFill>
                <a:latin typeface="Arial"/>
                <a:ea typeface="Arial"/>
                <a:cs typeface="Arial"/>
              </a:rPr>
              <a:t>SUV medio: perder una venta supone 5.714 € de CVP.</a:t>
            </a:r>
          </a:p>
          <a:p xmlns:a="http://schemas.openxmlformats.org/drawingml/2006/main">
            <a:pPr algn="l">
              <a:defRPr sz="2100" b="0">
                <a:solidFill>
                  <a:srgbClr val="566775"/>
                </a:solidFill>
                <a:latin typeface="Arial"/>
                <a:ea typeface="Arial"/>
                <a:cs typeface="Arial"/>
              </a:defRPr>
            </a:pPr>
            <a:r>
              <a:rPr sz="2100" b="0">
                <a:solidFill>
                  <a:srgbClr val="566775"/>
                </a:solidFill>
                <a:latin typeface="Arial"/>
                <a:ea typeface="Arial"/>
                <a:cs typeface="Arial"/>
              </a:rPr>
              <a:t>Mantener un coche un mes cuesta 60 €, más el posible VM adicional por antigüedad.</a:t>
            </a:r>
          </a:p>
        </p:txBody>
      </p:sp>
    </p:spTree>
    <p:extLst>
      <p:ext uri="{BB962C8B-B14F-4D97-AF65-F5344CB8AC3E}">
        <p14:creationId xmlns:p14="http://schemas.microsoft.com/office/powerpoint/2010/main" val="19101284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2026-10-15T15:24:56.6560000Z</dcterms:created>
  <dcterms:modified xsi:type="dcterms:W3CDTF">2026-10-15T15:24:56.6560000Z</dcterms:modified>
</coreProperties>
</file>